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y="6858000" cx="12192000"/>
  <p:notesSz cx="6858000" cy="9144000"/>
  <p:embeddedFontLst>
    <p:embeddedFont>
      <p:font typeface="Montserrat SemiBold"/>
      <p:regular r:id="rId52"/>
      <p:bold r:id="rId53"/>
      <p:italic r:id="rId54"/>
      <p:boldItalic r:id="rId55"/>
    </p:embeddedFont>
    <p:embeddedFont>
      <p:font typeface="Montserrat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665">
          <p15:clr>
            <a:srgbClr val="A4A3A4"/>
          </p15:clr>
        </p15:guide>
        <p15:guide id="3" pos="7015">
          <p15:clr>
            <a:srgbClr val="A4A3A4"/>
          </p15:clr>
        </p15:guide>
        <p15:guide id="4" orient="horz" pos="346">
          <p15:clr>
            <a:srgbClr val="A4A3A4"/>
          </p15:clr>
        </p15:guide>
        <p15:guide id="5" orient="horz" pos="3974">
          <p15:clr>
            <a:srgbClr val="A4A3A4"/>
          </p15:clr>
        </p15:guide>
      </p15:sldGuideLst>
    </p:ext>
    <p:ext uri="GoogleSlidesCustomDataVersion2">
      <go:slidesCustomData xmlns:go="http://customooxmlschemas.google.com/" r:id="rId60" roundtripDataSignature="AMtx7mhjxZZgvNuZLz61nY/2yvlTZVIy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665"/>
        <p:guide pos="7015"/>
        <p:guide pos="346" orient="horz"/>
        <p:guide pos="397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customschemas.google.com/relationships/presentationmetadata" Target="meta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font" Target="fonts/MontserratSemiBold-bold.fntdata"/><Relationship Id="rId52" Type="http://schemas.openxmlformats.org/officeDocument/2006/relationships/font" Target="fonts/MontserratSemiBold-regular.fntdata"/><Relationship Id="rId11" Type="http://schemas.openxmlformats.org/officeDocument/2006/relationships/slide" Target="slides/slide6.xml"/><Relationship Id="rId55" Type="http://schemas.openxmlformats.org/officeDocument/2006/relationships/font" Target="fonts/MontserratSemiBold-boldItalic.fntdata"/><Relationship Id="rId10" Type="http://schemas.openxmlformats.org/officeDocument/2006/relationships/slide" Target="slides/slide5.xml"/><Relationship Id="rId54" Type="http://schemas.openxmlformats.org/officeDocument/2006/relationships/font" Target="fonts/MontserratSemiBold-italic.fntdata"/><Relationship Id="rId13" Type="http://schemas.openxmlformats.org/officeDocument/2006/relationships/slide" Target="slides/slide8.xml"/><Relationship Id="rId57" Type="http://schemas.openxmlformats.org/officeDocument/2006/relationships/font" Target="fonts/Montserrat-bold.fntdata"/><Relationship Id="rId12" Type="http://schemas.openxmlformats.org/officeDocument/2006/relationships/slide" Target="slides/slide7.xml"/><Relationship Id="rId56" Type="http://schemas.openxmlformats.org/officeDocument/2006/relationships/font" Target="fonts/Montserrat-regular.fntdata"/><Relationship Id="rId15" Type="http://schemas.openxmlformats.org/officeDocument/2006/relationships/slide" Target="slides/slide10.xml"/><Relationship Id="rId59" Type="http://schemas.openxmlformats.org/officeDocument/2006/relationships/font" Target="fonts/Montserrat-boldItalic.fntdata"/><Relationship Id="rId14" Type="http://schemas.openxmlformats.org/officeDocument/2006/relationships/slide" Target="slides/slide9.xml"/><Relationship Id="rId58" Type="http://schemas.openxmlformats.org/officeDocument/2006/relationships/font" Target="fonts/Montserrat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e8d89ffb8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2e8d89ffb8f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e8d89ffb8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g2e8d89ffb8f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e8d89ffb8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g2e8d89ffb8f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e8d89ffb8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g2e8d89ffb8f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e8d89ffb8f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g2e8d89ffb8f_0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e8d89ffb8f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g2e8d89ffb8f_0_1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e8d89ffb8f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g2e8d89ffb8f_0_1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e8d89ffb8f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g2e8d89ffb8f_0_1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e8d89ffb8f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3" name="Google Shape;243;g2e8d89ffb8f_0_1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e8d89ffb8f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g2e8d89ffb8f_0_1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e8d89ffb8f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1" name="Google Shape;261;g2e8d89ffb8f_0_1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e8d89ffb8f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g2e8d89ffb8f_0_1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74a93994a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g274a93994ac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74a93994a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4" name="Google Shape;284;g274a93994ac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e8e0be81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2" name="Google Shape;292;g2e8e0be81b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e8e0be81b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3" name="Google Shape;313;g2e8e0be81b4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e8e0be81b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1" name="Google Shape;321;g2e8e0be81b4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e8e0be81b4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6" name="Google Shape;346;g2e8e0be81b4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e8e0be81b4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1" name="Google Shape;371;g2e8e0be81b4_0_1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e8e0be81b4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4" name="Google Shape;394;g2e8e0be81b4_0_2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e954bb029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2" name="Google Shape;402;g2e954bb029d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e954bb029d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1" name="Google Shape;411;g2e954bb029d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2e954bb029d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0" name="Google Shape;420;g2e954bb029d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2e954bb029d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8" name="Google Shape;428;g2e954bb029d_0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2e954bb029d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6" name="Google Shape;436;g2e954bb029d_0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e954bb029d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4" name="Google Shape;444;g2e954bb029d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2e8e0be81b4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2" name="Google Shape;452;g2e8e0be81b4_0_2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2e8e0be81b4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0" name="Google Shape;460;g2e8e0be81b4_0_2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e954bb029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8" name="Google Shape;468;g2e954bb029d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2e954bb029d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6" name="Google Shape;476;g2e954bb029d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2e954bb029d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4" name="Google Shape;484;g2e954bb029d_0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2e954bb029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2" name="Google Shape;492;g2e954bb029d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2e954bb029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7" name="Google Shape;497;g2e954bb029d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2e954bb029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5" name="Google Shape;505;g2e954bb029d_0_1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2e954bb029d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3" name="Google Shape;513;g2e954bb029d_0_1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e954bb029d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2" name="Google Shape;522;g2e954bb029d_0_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2e954bb029d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1" name="Google Shape;531;g2e954bb029d_0_1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2e954bb029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9" name="Google Shape;559;g2e954bb029d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2e954bb029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4" name="Google Shape;564;g2e954bb029d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0" name="Google Shape;59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6" name="Google Shape;59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04633" y="159813"/>
            <a:ext cx="1369867" cy="474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5"/>
          <p:cNvSpPr/>
          <p:nvPr/>
        </p:nvSpPr>
        <p:spPr>
          <a:xfrm>
            <a:off x="0" y="0"/>
            <a:ext cx="6096000" cy="6858000"/>
          </a:xfrm>
          <a:prstGeom prst="roundRect">
            <a:avLst>
              <a:gd fmla="val 0" name="adj"/>
            </a:avLst>
          </a:prstGeom>
          <a:solidFill>
            <a:srgbClr val="685ABA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16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04633" y="158809"/>
            <a:ext cx="1369867" cy="47619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5"/>
          <p:cNvSpPr txBox="1"/>
          <p:nvPr/>
        </p:nvSpPr>
        <p:spPr>
          <a:xfrm>
            <a:off x="1638300" y="2940963"/>
            <a:ext cx="28194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Agenda</a:t>
            </a:r>
            <a:endParaRPr b="1" i="0" sz="4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18;p15"/>
          <p:cNvSpPr txBox="1"/>
          <p:nvPr/>
        </p:nvSpPr>
        <p:spPr>
          <a:xfrm>
            <a:off x="9239250" y="6564154"/>
            <a:ext cx="291465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rPr>
              <a:t>© Copyright Intellipaat. All rights reserved.</a:t>
            </a:r>
            <a:endParaRPr b="0" i="0" sz="1000" u="none" cap="none" strike="noStrike">
              <a:solidFill>
                <a:srgbClr val="7F7F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>
  <p:cSld name="1_Section 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6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solidFill>
            <a:srgbClr val="685AB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6"/>
          <p:cNvSpPr txBox="1"/>
          <p:nvPr/>
        </p:nvSpPr>
        <p:spPr>
          <a:xfrm>
            <a:off x="9239250" y="6564154"/>
            <a:ext cx="291465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© Copyright Intellipaat. All rights reserved.</a:t>
            </a:r>
            <a:endParaRPr b="0" i="0" sz="1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" name="Google Shape;2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04633" y="159813"/>
            <a:ext cx="1369867" cy="474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Blank">
  <p:cSld name="4_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/>
        </p:nvSpPr>
        <p:spPr>
          <a:xfrm>
            <a:off x="9239250" y="6564154"/>
            <a:ext cx="291465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rPr>
              <a:t>© Copyright Intellipaat. All rights reserved.</a:t>
            </a:r>
            <a:endParaRPr b="0" i="0" sz="1000" u="none" cap="none" strike="noStrike">
              <a:solidFill>
                <a:srgbClr val="7F7F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" name="Google Shape;25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3824" cy="70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04633" y="158809"/>
            <a:ext cx="1369867" cy="476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Section Header">
  <p:cSld name="4_Section 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04633" y="158809"/>
            <a:ext cx="1369867" cy="476192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18"/>
          <p:cNvSpPr txBox="1"/>
          <p:nvPr/>
        </p:nvSpPr>
        <p:spPr>
          <a:xfrm>
            <a:off x="9239250" y="6564154"/>
            <a:ext cx="291465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© Copyright Intellipaat. All rights reserved.</a:t>
            </a:r>
            <a:endParaRPr b="0" i="0" sz="1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/>
          <p:nvPr/>
        </p:nvSpPr>
        <p:spPr>
          <a:xfrm>
            <a:off x="6096000" y="0"/>
            <a:ext cx="6096000" cy="6858000"/>
          </a:xfrm>
          <a:prstGeom prst="roundRect">
            <a:avLst>
              <a:gd fmla="val 0" name="adj"/>
            </a:avLst>
          </a:prstGeom>
          <a:solidFill>
            <a:srgbClr val="685AB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9"/>
          <p:cNvSpPr txBox="1"/>
          <p:nvPr/>
        </p:nvSpPr>
        <p:spPr>
          <a:xfrm>
            <a:off x="923925" y="3242292"/>
            <a:ext cx="424815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675AB9"/>
                </a:solidFill>
                <a:latin typeface="Montserrat"/>
                <a:ea typeface="Montserrat"/>
                <a:cs typeface="Montserrat"/>
                <a:sym typeface="Montserrat"/>
              </a:rPr>
              <a:t>Contact Us</a:t>
            </a:r>
            <a:endParaRPr b="1" i="0" sz="4800" u="none" cap="none" strike="noStrike">
              <a:solidFill>
                <a:srgbClr val="675A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" name="Google Shape;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3671" y="3774779"/>
            <a:ext cx="382346" cy="383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9616" y="3229279"/>
            <a:ext cx="370934" cy="37207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9"/>
          <p:cNvSpPr txBox="1"/>
          <p:nvPr/>
        </p:nvSpPr>
        <p:spPr>
          <a:xfrm>
            <a:off x="8354092" y="3261428"/>
            <a:ext cx="176212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080-4524-9465</a:t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" name="Google Shape;36;p19"/>
          <p:cNvSpPr txBox="1"/>
          <p:nvPr/>
        </p:nvSpPr>
        <p:spPr>
          <a:xfrm>
            <a:off x="8354092" y="3811359"/>
            <a:ext cx="242887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support@intellipaat.com</a:t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" name="Google Shape;37;p19"/>
          <p:cNvSpPr txBox="1"/>
          <p:nvPr/>
        </p:nvSpPr>
        <p:spPr>
          <a:xfrm>
            <a:off x="9239250" y="6564154"/>
            <a:ext cx="291465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© Copyright Intellipaat. All rights reserved.</a:t>
            </a:r>
            <a:endParaRPr b="0" i="0" sz="1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8" name="Google Shape;3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04633" y="159813"/>
            <a:ext cx="1369867" cy="474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Section Header">
  <p:cSld name="3_Section 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solidFill>
            <a:srgbClr val="FF9F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0"/>
          <p:cNvSpPr txBox="1"/>
          <p:nvPr/>
        </p:nvSpPr>
        <p:spPr>
          <a:xfrm>
            <a:off x="9239250" y="6564154"/>
            <a:ext cx="291465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© Copyright Intellipaat. All rights reserved.</a:t>
            </a:r>
            <a:endParaRPr b="0" i="0" sz="1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2" name="Google Shape;4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04633" y="159813"/>
            <a:ext cx="1369867" cy="474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Blank">
  <p:cSld name="7_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1"/>
          <p:cNvSpPr txBox="1"/>
          <p:nvPr/>
        </p:nvSpPr>
        <p:spPr>
          <a:xfrm>
            <a:off x="9239250" y="6564154"/>
            <a:ext cx="291465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rPr>
              <a:t>© Copyright Intellipaat. All rights reserved.</a:t>
            </a:r>
            <a:endParaRPr b="0" i="0" sz="1000" u="none" cap="none" strike="noStrike">
              <a:solidFill>
                <a:srgbClr val="7F7F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5" name="Google Shape;45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04633" y="158809"/>
            <a:ext cx="1369867" cy="476192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1"/>
          <p:cNvSpPr/>
          <p:nvPr/>
        </p:nvSpPr>
        <p:spPr>
          <a:xfrm>
            <a:off x="0" y="0"/>
            <a:ext cx="123824" cy="700755"/>
          </a:xfrm>
          <a:prstGeom prst="rect">
            <a:avLst/>
          </a:prstGeom>
          <a:solidFill>
            <a:srgbClr val="FF8B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/>
          <p:nvPr/>
        </p:nvSpPr>
        <p:spPr>
          <a:xfrm>
            <a:off x="9239250" y="6564154"/>
            <a:ext cx="291465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rPr>
              <a:t>© Copyright Intellipaat. All rights reserved.</a:t>
            </a:r>
            <a:endParaRPr b="0" i="0" sz="1000" u="none" cap="none" strike="noStrike">
              <a:solidFill>
                <a:srgbClr val="7F7F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9" name="Google Shape;49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04633" y="158809"/>
            <a:ext cx="1369867" cy="476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/>
        </p:nvSpPr>
        <p:spPr>
          <a:xfrm>
            <a:off x="9239250" y="6564154"/>
            <a:ext cx="291465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rPr>
              <a:t>© Copyright Intellipaat. All rights reserved.</a:t>
            </a:r>
            <a:endParaRPr b="0" i="0" sz="1000" u="none" cap="none" strike="noStrike">
              <a:solidFill>
                <a:srgbClr val="7F7F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k">
  <p:cSld name="2_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lank">
  <p:cSld name="3_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4" name="Google Shape;64;p2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6" name="Google Shape;66;p2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6" name="Google Shape;86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1.png"/><Relationship Id="rId4" Type="http://schemas.openxmlformats.org/officeDocument/2006/relationships/image" Target="../media/image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2.png"/><Relationship Id="rId4" Type="http://schemas.openxmlformats.org/officeDocument/2006/relationships/image" Target="../media/image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5.png"/><Relationship Id="rId4" Type="http://schemas.openxmlformats.org/officeDocument/2006/relationships/image" Target="../media/image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7.png"/><Relationship Id="rId4" Type="http://schemas.openxmlformats.org/officeDocument/2006/relationships/image" Target="../media/image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7.png"/><Relationship Id="rId4" Type="http://schemas.openxmlformats.org/officeDocument/2006/relationships/image" Target="../media/image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4.png"/><Relationship Id="rId4" Type="http://schemas.openxmlformats.org/officeDocument/2006/relationships/image" Target="../media/image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6.png"/><Relationship Id="rId4" Type="http://schemas.openxmlformats.org/officeDocument/2006/relationships/image" Target="../media/image28.png"/><Relationship Id="rId5" Type="http://schemas.openxmlformats.org/officeDocument/2006/relationships/image" Target="../media/image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6.png"/><Relationship Id="rId4" Type="http://schemas.openxmlformats.org/officeDocument/2006/relationships/image" Target="../media/image32.png"/><Relationship Id="rId5" Type="http://schemas.openxmlformats.org/officeDocument/2006/relationships/image" Target="../media/image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9.png"/><Relationship Id="rId4" Type="http://schemas.openxmlformats.org/officeDocument/2006/relationships/image" Target="../media/image20.png"/><Relationship Id="rId5" Type="http://schemas.openxmlformats.org/officeDocument/2006/relationships/image" Target="../media/image23.png"/><Relationship Id="rId6" Type="http://schemas.openxmlformats.org/officeDocument/2006/relationships/image" Target="../media/image31.png"/><Relationship Id="rId7" Type="http://schemas.openxmlformats.org/officeDocument/2006/relationships/image" Target="../media/image30.png"/><Relationship Id="rId8" Type="http://schemas.openxmlformats.org/officeDocument/2006/relationships/image" Target="../media/image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/>
          <p:nvPr/>
        </p:nvSpPr>
        <p:spPr>
          <a:xfrm>
            <a:off x="1333500" y="2685175"/>
            <a:ext cx="5126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Generative AI</a:t>
            </a:r>
            <a:endParaRPr b="1" i="0" sz="4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6" name="Google Shape;10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30480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3048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/>
          <p:nvPr/>
        </p:nvSpPr>
        <p:spPr>
          <a:xfrm>
            <a:off x="1055688" y="2913787"/>
            <a:ext cx="6096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en-US" sz="4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Transformers</a:t>
            </a:r>
            <a:endParaRPr b="1" i="0" sz="4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1055688" y="2405212"/>
            <a:ext cx="50403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Module </a:t>
            </a:r>
            <a:r>
              <a:rPr b="1" lang="en-US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 i="0" sz="3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4" name="Google Shape;1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3048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 txBox="1"/>
          <p:nvPr/>
        </p:nvSpPr>
        <p:spPr>
          <a:xfrm>
            <a:off x="6892925" y="2063750"/>
            <a:ext cx="4381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AutoNum type="arabicPeriod"/>
            </a:pP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Transformers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AutoNum type="arabicPeriod"/>
            </a:pP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Transformer Architecture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AutoNum type="arabicPeriod"/>
            </a:pP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Pre-trained Checkpoints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AutoNum type="arabicPeriod"/>
            </a:pP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Applications of Transformers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AutoNum type="arabicPeriod"/>
            </a:pP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Hands-on - </a:t>
            </a: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Hugging Face</a:t>
            </a: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&amp; Generative AI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0" name="Google Shape;12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3048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 txBox="1"/>
          <p:nvPr/>
        </p:nvSpPr>
        <p:spPr>
          <a:xfrm>
            <a:off x="3076575" y="2694712"/>
            <a:ext cx="6096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en-US" sz="4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Transformers</a:t>
            </a:r>
            <a:endParaRPr b="1" i="0" sz="4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6" name="Google Shape;12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3048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 txBox="1"/>
          <p:nvPr/>
        </p:nvSpPr>
        <p:spPr>
          <a:xfrm flipH="1">
            <a:off x="467598" y="207830"/>
            <a:ext cx="619696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675AB9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Transformers</a:t>
            </a:r>
            <a:endParaRPr b="1" i="0" sz="2400" u="none" cap="none" strike="noStrike">
              <a:solidFill>
                <a:srgbClr val="675A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2" name="Google Shape;132;p5"/>
          <p:cNvPicPr preferRelativeResize="0"/>
          <p:nvPr/>
        </p:nvPicPr>
        <p:blipFill rotWithShape="1">
          <a:blip r:embed="rId3">
            <a:alphaModFix/>
          </a:blip>
          <a:srcRect b="6742" l="6124" r="64329" t="0"/>
          <a:stretch/>
        </p:blipFill>
        <p:spPr>
          <a:xfrm>
            <a:off x="1055700" y="2203200"/>
            <a:ext cx="1951600" cy="410552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 txBox="1"/>
          <p:nvPr/>
        </p:nvSpPr>
        <p:spPr>
          <a:xfrm>
            <a:off x="2900050" y="2569400"/>
            <a:ext cx="3479100" cy="13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What is the first thing that comes to mind when we say transformers?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4" name="Google Shape;13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3048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e8d89ffb8f_0_2"/>
          <p:cNvSpPr txBox="1"/>
          <p:nvPr/>
        </p:nvSpPr>
        <p:spPr>
          <a:xfrm flipH="1">
            <a:off x="467462" y="207830"/>
            <a:ext cx="619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675AB9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Transformers</a:t>
            </a:r>
            <a:endParaRPr b="1" i="0" sz="2400" u="none" cap="none" strike="noStrike">
              <a:solidFill>
                <a:srgbClr val="675A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0" name="Google Shape;140;g2e8d89ffb8f_0_2"/>
          <p:cNvPicPr preferRelativeResize="0"/>
          <p:nvPr/>
        </p:nvPicPr>
        <p:blipFill rotWithShape="1">
          <a:blip r:embed="rId3">
            <a:alphaModFix/>
          </a:blip>
          <a:srcRect b="6742" l="6124" r="64329" t="0"/>
          <a:stretch/>
        </p:blipFill>
        <p:spPr>
          <a:xfrm>
            <a:off x="1055700" y="2203200"/>
            <a:ext cx="1951600" cy="4105523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2e8d89ffb8f_0_2"/>
          <p:cNvSpPr txBox="1"/>
          <p:nvPr/>
        </p:nvSpPr>
        <p:spPr>
          <a:xfrm>
            <a:off x="2900050" y="2569400"/>
            <a:ext cx="3479100" cy="13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Well, you are not to blame, it is a great franchise. But transformers are not the earth’s savior from apocalyptic space events. 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2" name="Google Shape;142;g2e8d89ffb8f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5975" y="2203198"/>
            <a:ext cx="5670350" cy="3779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2e8d89ffb8f_0_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4800" y="3048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e8d89ffb8f_0_9"/>
          <p:cNvSpPr txBox="1"/>
          <p:nvPr/>
        </p:nvSpPr>
        <p:spPr>
          <a:xfrm flipH="1">
            <a:off x="467462" y="207830"/>
            <a:ext cx="619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675AB9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Transformers</a:t>
            </a:r>
            <a:endParaRPr b="1" i="0" sz="2400" u="none" cap="none" strike="noStrike">
              <a:solidFill>
                <a:srgbClr val="675A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9" name="Google Shape;149;g2e8d89ffb8f_0_9"/>
          <p:cNvPicPr preferRelativeResize="0"/>
          <p:nvPr/>
        </p:nvPicPr>
        <p:blipFill rotWithShape="1">
          <a:blip r:embed="rId3">
            <a:alphaModFix/>
          </a:blip>
          <a:srcRect b="6742" l="6124" r="64329" t="0"/>
          <a:stretch/>
        </p:blipFill>
        <p:spPr>
          <a:xfrm>
            <a:off x="1055700" y="2203200"/>
            <a:ext cx="1951600" cy="4105523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2e8d89ffb8f_0_9"/>
          <p:cNvSpPr txBox="1"/>
          <p:nvPr/>
        </p:nvSpPr>
        <p:spPr>
          <a:xfrm>
            <a:off x="2900050" y="2569400"/>
            <a:ext cx="3479100" cy="13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Let’s understand how the need for transformers 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occurred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 and what they really are.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1" name="Google Shape;151;g2e8d89ffb8f_0_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3048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e8d89ffb8f_0_16"/>
          <p:cNvSpPr txBox="1"/>
          <p:nvPr/>
        </p:nvSpPr>
        <p:spPr>
          <a:xfrm flipH="1">
            <a:off x="467462" y="207830"/>
            <a:ext cx="619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675AB9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Transformers</a:t>
            </a:r>
            <a:endParaRPr b="1" i="0" sz="2400" u="none" cap="none" strike="noStrike">
              <a:solidFill>
                <a:srgbClr val="675A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g2e8d89ffb8f_0_16"/>
          <p:cNvSpPr txBox="1"/>
          <p:nvPr/>
        </p:nvSpPr>
        <p:spPr>
          <a:xfrm>
            <a:off x="1055700" y="1274400"/>
            <a:ext cx="4664700" cy="13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When we talk about neural networks, we simply have a structure where there is some input, great deal of hidden layers that translates into an output.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8" name="Google Shape;158;g2e8d89ffb8f_0_16"/>
          <p:cNvPicPr preferRelativeResize="0"/>
          <p:nvPr/>
        </p:nvPicPr>
        <p:blipFill rotWithShape="1">
          <a:blip r:embed="rId3">
            <a:alphaModFix/>
          </a:blip>
          <a:srcRect b="6742" l="6124" r="64329" t="0"/>
          <a:stretch/>
        </p:blipFill>
        <p:spPr>
          <a:xfrm>
            <a:off x="1055700" y="2203200"/>
            <a:ext cx="1951600" cy="4105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g2e8d89ffb8f_0_16"/>
          <p:cNvPicPr preferRelativeResize="0"/>
          <p:nvPr/>
        </p:nvPicPr>
        <p:blipFill rotWithShape="1">
          <a:blip r:embed="rId4">
            <a:alphaModFix/>
          </a:blip>
          <a:srcRect b="29814" l="54237" r="0" t="0"/>
          <a:stretch/>
        </p:blipFill>
        <p:spPr>
          <a:xfrm>
            <a:off x="5034075" y="2539887"/>
            <a:ext cx="4879852" cy="343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g2e8d89ffb8f_0_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4800" y="3048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e8d89ffb8f_0_25"/>
          <p:cNvSpPr txBox="1"/>
          <p:nvPr/>
        </p:nvSpPr>
        <p:spPr>
          <a:xfrm flipH="1">
            <a:off x="467462" y="207830"/>
            <a:ext cx="619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675AB9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Transformers</a:t>
            </a:r>
            <a:endParaRPr b="1" i="0" sz="2400" u="none" cap="none" strike="noStrike">
              <a:solidFill>
                <a:srgbClr val="675A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g2e8d89ffb8f_0_25"/>
          <p:cNvSpPr txBox="1"/>
          <p:nvPr/>
        </p:nvSpPr>
        <p:spPr>
          <a:xfrm>
            <a:off x="1055700" y="1426800"/>
            <a:ext cx="4664700" cy="13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we have 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CNN's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 that work great for applications of deep learning that includes images.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7" name="Google Shape;167;g2e8d89ffb8f_0_25"/>
          <p:cNvPicPr preferRelativeResize="0"/>
          <p:nvPr/>
        </p:nvPicPr>
        <p:blipFill rotWithShape="1">
          <a:blip r:embed="rId3">
            <a:alphaModFix/>
          </a:blip>
          <a:srcRect b="6742" l="6124" r="64329" t="0"/>
          <a:stretch/>
        </p:blipFill>
        <p:spPr>
          <a:xfrm>
            <a:off x="1055700" y="2203200"/>
            <a:ext cx="1951600" cy="4105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2e8d89ffb8f_0_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534075" y="2844701"/>
            <a:ext cx="1171350" cy="117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2e8d89ffb8f_0_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34075" y="4321479"/>
            <a:ext cx="1171350" cy="117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2e8d89ffb8f_0_25"/>
          <p:cNvSpPr/>
          <p:nvPr/>
        </p:nvSpPr>
        <p:spPr>
          <a:xfrm>
            <a:off x="6606725" y="3120300"/>
            <a:ext cx="474300" cy="492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2e8d89ffb8f_0_25"/>
          <p:cNvSpPr/>
          <p:nvPr/>
        </p:nvSpPr>
        <p:spPr>
          <a:xfrm>
            <a:off x="6606725" y="3986200"/>
            <a:ext cx="474300" cy="492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2e8d89ffb8f_0_25"/>
          <p:cNvSpPr/>
          <p:nvPr/>
        </p:nvSpPr>
        <p:spPr>
          <a:xfrm>
            <a:off x="6606725" y="4852100"/>
            <a:ext cx="474300" cy="492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2e8d89ffb8f_0_25"/>
          <p:cNvSpPr/>
          <p:nvPr/>
        </p:nvSpPr>
        <p:spPr>
          <a:xfrm>
            <a:off x="7700200" y="3120300"/>
            <a:ext cx="474300" cy="492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2e8d89ffb8f_0_25"/>
          <p:cNvSpPr/>
          <p:nvPr/>
        </p:nvSpPr>
        <p:spPr>
          <a:xfrm>
            <a:off x="7700200" y="3986200"/>
            <a:ext cx="474300" cy="492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2e8d89ffb8f_0_25"/>
          <p:cNvSpPr/>
          <p:nvPr/>
        </p:nvSpPr>
        <p:spPr>
          <a:xfrm>
            <a:off x="7700200" y="4852100"/>
            <a:ext cx="474300" cy="492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" name="Google Shape;176;g2e8d89ffb8f_0_25"/>
          <p:cNvCxnSpPr>
            <a:stCxn id="168" idx="1"/>
            <a:endCxn id="171" idx="2"/>
          </p:cNvCxnSpPr>
          <p:nvPr/>
        </p:nvCxnSpPr>
        <p:spPr>
          <a:xfrm>
            <a:off x="5705425" y="3430376"/>
            <a:ext cx="901200" cy="802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7" name="Google Shape;177;g2e8d89ffb8f_0_25"/>
          <p:cNvCxnSpPr>
            <a:stCxn id="168" idx="1"/>
            <a:endCxn id="170" idx="2"/>
          </p:cNvCxnSpPr>
          <p:nvPr/>
        </p:nvCxnSpPr>
        <p:spPr>
          <a:xfrm flipH="1" rot="10800000">
            <a:off x="5705425" y="3366476"/>
            <a:ext cx="901200" cy="63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" name="Google Shape;178;g2e8d89ffb8f_0_25"/>
          <p:cNvCxnSpPr>
            <a:stCxn id="168" idx="1"/>
            <a:endCxn id="172" idx="2"/>
          </p:cNvCxnSpPr>
          <p:nvPr/>
        </p:nvCxnSpPr>
        <p:spPr>
          <a:xfrm>
            <a:off x="5705425" y="3430376"/>
            <a:ext cx="901200" cy="1668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" name="Google Shape;179;g2e8d89ffb8f_0_25"/>
          <p:cNvCxnSpPr>
            <a:stCxn id="169" idx="3"/>
            <a:endCxn id="172" idx="2"/>
          </p:cNvCxnSpPr>
          <p:nvPr/>
        </p:nvCxnSpPr>
        <p:spPr>
          <a:xfrm>
            <a:off x="5705425" y="4907154"/>
            <a:ext cx="901200" cy="191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" name="Google Shape;180;g2e8d89ffb8f_0_25"/>
          <p:cNvCxnSpPr>
            <a:stCxn id="169" idx="3"/>
            <a:endCxn id="171" idx="2"/>
          </p:cNvCxnSpPr>
          <p:nvPr/>
        </p:nvCxnSpPr>
        <p:spPr>
          <a:xfrm flipH="1" rot="10800000">
            <a:off x="5705425" y="4232454"/>
            <a:ext cx="901200" cy="674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" name="Google Shape;181;g2e8d89ffb8f_0_25"/>
          <p:cNvCxnSpPr>
            <a:stCxn id="169" idx="3"/>
            <a:endCxn id="170" idx="2"/>
          </p:cNvCxnSpPr>
          <p:nvPr/>
        </p:nvCxnSpPr>
        <p:spPr>
          <a:xfrm flipH="1" rot="10800000">
            <a:off x="5705425" y="3366654"/>
            <a:ext cx="901200" cy="1540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" name="Google Shape;182;g2e8d89ffb8f_0_25"/>
          <p:cNvCxnSpPr>
            <a:stCxn id="170" idx="5"/>
            <a:endCxn id="174" idx="1"/>
          </p:cNvCxnSpPr>
          <p:nvPr/>
        </p:nvCxnSpPr>
        <p:spPr>
          <a:xfrm>
            <a:off x="7011565" y="3540760"/>
            <a:ext cx="758100" cy="517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" name="Google Shape;183;g2e8d89ffb8f_0_25"/>
          <p:cNvCxnSpPr>
            <a:stCxn id="170" idx="6"/>
            <a:endCxn id="173" idx="2"/>
          </p:cNvCxnSpPr>
          <p:nvPr/>
        </p:nvCxnSpPr>
        <p:spPr>
          <a:xfrm>
            <a:off x="7081025" y="3366600"/>
            <a:ext cx="619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" name="Google Shape;184;g2e8d89ffb8f_0_25"/>
          <p:cNvCxnSpPr>
            <a:stCxn id="170" idx="5"/>
            <a:endCxn id="175" idx="1"/>
          </p:cNvCxnSpPr>
          <p:nvPr/>
        </p:nvCxnSpPr>
        <p:spPr>
          <a:xfrm>
            <a:off x="7011565" y="3540760"/>
            <a:ext cx="758100" cy="1383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" name="Google Shape;185;g2e8d89ffb8f_0_25"/>
          <p:cNvCxnSpPr>
            <a:stCxn id="171" idx="6"/>
            <a:endCxn id="173" idx="4"/>
          </p:cNvCxnSpPr>
          <p:nvPr/>
        </p:nvCxnSpPr>
        <p:spPr>
          <a:xfrm flipH="1" rot="10800000">
            <a:off x="7081025" y="3613000"/>
            <a:ext cx="856200" cy="619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" name="Google Shape;186;g2e8d89ffb8f_0_25"/>
          <p:cNvCxnSpPr>
            <a:stCxn id="171" idx="6"/>
            <a:endCxn id="174" idx="3"/>
          </p:cNvCxnSpPr>
          <p:nvPr/>
        </p:nvCxnSpPr>
        <p:spPr>
          <a:xfrm>
            <a:off x="7081025" y="4232500"/>
            <a:ext cx="688500" cy="174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" name="Google Shape;187;g2e8d89ffb8f_0_25"/>
          <p:cNvCxnSpPr>
            <a:stCxn id="171" idx="6"/>
            <a:endCxn id="175" idx="2"/>
          </p:cNvCxnSpPr>
          <p:nvPr/>
        </p:nvCxnSpPr>
        <p:spPr>
          <a:xfrm>
            <a:off x="7081025" y="4232500"/>
            <a:ext cx="619200" cy="86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" name="Google Shape;188;g2e8d89ffb8f_0_25"/>
          <p:cNvCxnSpPr>
            <a:stCxn id="172" idx="6"/>
            <a:endCxn id="174" idx="2"/>
          </p:cNvCxnSpPr>
          <p:nvPr/>
        </p:nvCxnSpPr>
        <p:spPr>
          <a:xfrm flipH="1" rot="10800000">
            <a:off x="7081025" y="4232600"/>
            <a:ext cx="619200" cy="86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" name="Google Shape;189;g2e8d89ffb8f_0_25"/>
          <p:cNvCxnSpPr>
            <a:stCxn id="172" idx="6"/>
            <a:endCxn id="173" idx="3"/>
          </p:cNvCxnSpPr>
          <p:nvPr/>
        </p:nvCxnSpPr>
        <p:spPr>
          <a:xfrm flipH="1" rot="10800000">
            <a:off x="7081025" y="3540800"/>
            <a:ext cx="688500" cy="155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" name="Google Shape;190;g2e8d89ffb8f_0_25"/>
          <p:cNvCxnSpPr>
            <a:stCxn id="172" idx="6"/>
            <a:endCxn id="175" idx="3"/>
          </p:cNvCxnSpPr>
          <p:nvPr/>
        </p:nvCxnSpPr>
        <p:spPr>
          <a:xfrm>
            <a:off x="7081025" y="5098400"/>
            <a:ext cx="688500" cy="174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91" name="Google Shape;191;g2e8d89ffb8f_0_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9312825" y="2780913"/>
            <a:ext cx="1171350" cy="117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g2e8d89ffb8f_0_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04750" y="4417016"/>
            <a:ext cx="1171350" cy="117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2e8d89ffb8f_0_25"/>
          <p:cNvSpPr txBox="1"/>
          <p:nvPr/>
        </p:nvSpPr>
        <p:spPr>
          <a:xfrm>
            <a:off x="8564250" y="3228650"/>
            <a:ext cx="619200" cy="476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Montserrat"/>
                <a:ea typeface="Montserrat"/>
                <a:cs typeface="Montserrat"/>
                <a:sym typeface="Montserrat"/>
              </a:rPr>
              <a:t>Cat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g2e8d89ffb8f_0_25"/>
          <p:cNvSpPr txBox="1"/>
          <p:nvPr/>
        </p:nvSpPr>
        <p:spPr>
          <a:xfrm>
            <a:off x="8572675" y="4622408"/>
            <a:ext cx="619200" cy="476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Montserrat"/>
                <a:ea typeface="Montserrat"/>
                <a:cs typeface="Montserrat"/>
                <a:sym typeface="Montserrat"/>
              </a:rPr>
              <a:t>Dog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5" name="Google Shape;195;g2e8d89ffb8f_0_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4800" y="3048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e8d89ffb8f_0_62"/>
          <p:cNvSpPr/>
          <p:nvPr/>
        </p:nvSpPr>
        <p:spPr>
          <a:xfrm>
            <a:off x="4284505" y="2921012"/>
            <a:ext cx="1772970" cy="1773485"/>
          </a:xfrm>
          <a:custGeom>
            <a:rect b="b" l="l" r="r" t="t"/>
            <a:pathLst>
              <a:path extrusionOk="0" h="34315" w="34315">
                <a:moveTo>
                  <a:pt x="17158" y="0"/>
                </a:moveTo>
                <a:cubicBezTo>
                  <a:pt x="7699" y="0"/>
                  <a:pt x="1" y="7699"/>
                  <a:pt x="1" y="17157"/>
                </a:cubicBezTo>
                <a:cubicBezTo>
                  <a:pt x="1" y="26652"/>
                  <a:pt x="7699" y="34314"/>
                  <a:pt x="17158" y="34314"/>
                </a:cubicBezTo>
                <a:cubicBezTo>
                  <a:pt x="26616" y="34314"/>
                  <a:pt x="34315" y="26652"/>
                  <a:pt x="34315" y="17157"/>
                </a:cubicBezTo>
                <a:cubicBezTo>
                  <a:pt x="34315" y="7699"/>
                  <a:pt x="26616" y="0"/>
                  <a:pt x="17158" y="0"/>
                </a:cubicBezTo>
                <a:close/>
              </a:path>
            </a:pathLst>
          </a:custGeom>
          <a:solidFill>
            <a:srgbClr val="F35001">
              <a:alpha val="730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2e8d89ffb8f_0_62"/>
          <p:cNvSpPr/>
          <p:nvPr/>
        </p:nvSpPr>
        <p:spPr>
          <a:xfrm>
            <a:off x="7334674" y="2921012"/>
            <a:ext cx="1772970" cy="1773485"/>
          </a:xfrm>
          <a:custGeom>
            <a:rect b="b" l="l" r="r" t="t"/>
            <a:pathLst>
              <a:path extrusionOk="0" h="34315" w="34315">
                <a:moveTo>
                  <a:pt x="17157" y="0"/>
                </a:moveTo>
                <a:cubicBezTo>
                  <a:pt x="7699" y="0"/>
                  <a:pt x="0" y="7699"/>
                  <a:pt x="0" y="17157"/>
                </a:cubicBezTo>
                <a:cubicBezTo>
                  <a:pt x="0" y="26652"/>
                  <a:pt x="7699" y="34314"/>
                  <a:pt x="17157" y="34314"/>
                </a:cubicBezTo>
                <a:cubicBezTo>
                  <a:pt x="26652" y="34314"/>
                  <a:pt x="34314" y="26652"/>
                  <a:pt x="34314" y="17157"/>
                </a:cubicBezTo>
                <a:cubicBezTo>
                  <a:pt x="34314" y="7699"/>
                  <a:pt x="26652" y="0"/>
                  <a:pt x="17157" y="0"/>
                </a:cubicBezTo>
                <a:close/>
              </a:path>
            </a:pathLst>
          </a:custGeom>
          <a:solidFill>
            <a:srgbClr val="FEAE17">
              <a:alpha val="775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2e8d89ffb8f_0_62"/>
          <p:cNvSpPr txBox="1"/>
          <p:nvPr/>
        </p:nvSpPr>
        <p:spPr>
          <a:xfrm flipH="1">
            <a:off x="467462" y="207830"/>
            <a:ext cx="619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675AB9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Transformers</a:t>
            </a:r>
            <a:endParaRPr b="1" i="0" sz="2400" u="none" cap="none" strike="noStrike">
              <a:solidFill>
                <a:srgbClr val="675A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3" name="Google Shape;203;g2e8d89ffb8f_0_62"/>
          <p:cNvPicPr preferRelativeResize="0"/>
          <p:nvPr/>
        </p:nvPicPr>
        <p:blipFill rotWithShape="1">
          <a:blip r:embed="rId3">
            <a:alphaModFix/>
          </a:blip>
          <a:srcRect b="6742" l="6124" r="64329" t="0"/>
          <a:stretch/>
        </p:blipFill>
        <p:spPr>
          <a:xfrm>
            <a:off x="1055700" y="2203200"/>
            <a:ext cx="1951600" cy="4105523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g2e8d89ffb8f_0_62"/>
          <p:cNvSpPr txBox="1"/>
          <p:nvPr/>
        </p:nvSpPr>
        <p:spPr>
          <a:xfrm>
            <a:off x="1055700" y="1426800"/>
            <a:ext cx="4664700" cy="13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When it comes to the text data, we had mainly 2 options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g2e8d89ffb8f_0_62"/>
          <p:cNvSpPr txBox="1"/>
          <p:nvPr/>
        </p:nvSpPr>
        <p:spPr>
          <a:xfrm flipH="1">
            <a:off x="4670853" y="3576900"/>
            <a:ext cx="117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RNN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g2e8d89ffb8f_0_62"/>
          <p:cNvSpPr txBox="1"/>
          <p:nvPr/>
        </p:nvSpPr>
        <p:spPr>
          <a:xfrm flipH="1">
            <a:off x="7662103" y="3576900"/>
            <a:ext cx="117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LSTM</a:t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7" name="Google Shape;207;g2e8d89ffb8f_0_62"/>
          <p:cNvCxnSpPr/>
          <p:nvPr/>
        </p:nvCxnSpPr>
        <p:spPr>
          <a:xfrm>
            <a:off x="6730325" y="3319575"/>
            <a:ext cx="18300" cy="1149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08" name="Google Shape;208;g2e8d89ffb8f_0_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3048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e8d89ffb8f_0_101"/>
          <p:cNvSpPr txBox="1"/>
          <p:nvPr/>
        </p:nvSpPr>
        <p:spPr>
          <a:xfrm flipH="1">
            <a:off x="467462" y="207830"/>
            <a:ext cx="619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675AB9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Transformers</a:t>
            </a:r>
            <a:endParaRPr b="1" i="0" sz="2400" u="none" cap="none" strike="noStrike">
              <a:solidFill>
                <a:srgbClr val="675A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4" name="Google Shape;214;g2e8d89ffb8f_0_101"/>
          <p:cNvPicPr preferRelativeResize="0"/>
          <p:nvPr/>
        </p:nvPicPr>
        <p:blipFill rotWithShape="1">
          <a:blip r:embed="rId3">
            <a:alphaModFix/>
          </a:blip>
          <a:srcRect b="6742" l="6124" r="64329" t="0"/>
          <a:stretch/>
        </p:blipFill>
        <p:spPr>
          <a:xfrm>
            <a:off x="1055700" y="2203200"/>
            <a:ext cx="1951600" cy="4105523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g2e8d89ffb8f_0_101"/>
          <p:cNvSpPr txBox="1"/>
          <p:nvPr/>
        </p:nvSpPr>
        <p:spPr>
          <a:xfrm>
            <a:off x="1055700" y="1426800"/>
            <a:ext cx="2373300" cy="13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But what are the problems that used to occur with these options?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6" name="Google Shape;216;g2e8d89ffb8f_0_101"/>
          <p:cNvSpPr/>
          <p:nvPr/>
        </p:nvSpPr>
        <p:spPr>
          <a:xfrm>
            <a:off x="4284505" y="1549412"/>
            <a:ext cx="1772970" cy="1773485"/>
          </a:xfrm>
          <a:custGeom>
            <a:rect b="b" l="l" r="r" t="t"/>
            <a:pathLst>
              <a:path extrusionOk="0" h="34315" w="34315">
                <a:moveTo>
                  <a:pt x="17158" y="0"/>
                </a:moveTo>
                <a:cubicBezTo>
                  <a:pt x="7699" y="0"/>
                  <a:pt x="1" y="7699"/>
                  <a:pt x="1" y="17157"/>
                </a:cubicBezTo>
                <a:cubicBezTo>
                  <a:pt x="1" y="26652"/>
                  <a:pt x="7699" y="34314"/>
                  <a:pt x="17158" y="34314"/>
                </a:cubicBezTo>
                <a:cubicBezTo>
                  <a:pt x="26616" y="34314"/>
                  <a:pt x="34315" y="26652"/>
                  <a:pt x="34315" y="17157"/>
                </a:cubicBezTo>
                <a:cubicBezTo>
                  <a:pt x="34315" y="7699"/>
                  <a:pt x="26616" y="0"/>
                  <a:pt x="17158" y="0"/>
                </a:cubicBezTo>
                <a:close/>
              </a:path>
            </a:pathLst>
          </a:custGeom>
          <a:solidFill>
            <a:srgbClr val="F35001">
              <a:alpha val="730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2e8d89ffb8f_0_101"/>
          <p:cNvSpPr/>
          <p:nvPr/>
        </p:nvSpPr>
        <p:spPr>
          <a:xfrm>
            <a:off x="7334674" y="1549412"/>
            <a:ext cx="1772970" cy="1773485"/>
          </a:xfrm>
          <a:custGeom>
            <a:rect b="b" l="l" r="r" t="t"/>
            <a:pathLst>
              <a:path extrusionOk="0" h="34315" w="34315">
                <a:moveTo>
                  <a:pt x="17157" y="0"/>
                </a:moveTo>
                <a:cubicBezTo>
                  <a:pt x="7699" y="0"/>
                  <a:pt x="0" y="7699"/>
                  <a:pt x="0" y="17157"/>
                </a:cubicBezTo>
                <a:cubicBezTo>
                  <a:pt x="0" y="26652"/>
                  <a:pt x="7699" y="34314"/>
                  <a:pt x="17157" y="34314"/>
                </a:cubicBezTo>
                <a:cubicBezTo>
                  <a:pt x="26652" y="34314"/>
                  <a:pt x="34314" y="26652"/>
                  <a:pt x="34314" y="17157"/>
                </a:cubicBezTo>
                <a:cubicBezTo>
                  <a:pt x="34314" y="7699"/>
                  <a:pt x="26652" y="0"/>
                  <a:pt x="17157" y="0"/>
                </a:cubicBezTo>
                <a:close/>
              </a:path>
            </a:pathLst>
          </a:custGeom>
          <a:solidFill>
            <a:srgbClr val="FEAE17">
              <a:alpha val="775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2e8d89ffb8f_0_101"/>
          <p:cNvSpPr txBox="1"/>
          <p:nvPr/>
        </p:nvSpPr>
        <p:spPr>
          <a:xfrm flipH="1">
            <a:off x="4670853" y="2205300"/>
            <a:ext cx="117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RNN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" name="Google Shape;219;g2e8d89ffb8f_0_101"/>
          <p:cNvSpPr txBox="1"/>
          <p:nvPr/>
        </p:nvSpPr>
        <p:spPr>
          <a:xfrm flipH="1">
            <a:off x="7662103" y="2205300"/>
            <a:ext cx="117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LSTM</a:t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20" name="Google Shape;220;g2e8d89ffb8f_0_101"/>
          <p:cNvCxnSpPr/>
          <p:nvPr/>
        </p:nvCxnSpPr>
        <p:spPr>
          <a:xfrm>
            <a:off x="6730325" y="1947975"/>
            <a:ext cx="18300" cy="1149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" name="Google Shape;221;g2e8d89ffb8f_0_101"/>
          <p:cNvSpPr txBox="1"/>
          <p:nvPr/>
        </p:nvSpPr>
        <p:spPr>
          <a:xfrm>
            <a:off x="4071150" y="3889100"/>
            <a:ext cx="2373300" cy="13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RNNs process the data sequentially that makes it less efficient where the position of the text is important for analysis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" name="Google Shape;222;g2e8d89ffb8f_0_101"/>
          <p:cNvSpPr txBox="1"/>
          <p:nvPr/>
        </p:nvSpPr>
        <p:spPr>
          <a:xfrm>
            <a:off x="7244800" y="3889100"/>
            <a:ext cx="2373300" cy="13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The LSTM does take care of  context from the previous text but is computationally very slow when it comes larger texts to process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3" name="Google Shape;223;g2e8d89ffb8f_0_1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3048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e8d89ffb8f_0_120"/>
          <p:cNvSpPr txBox="1"/>
          <p:nvPr/>
        </p:nvSpPr>
        <p:spPr>
          <a:xfrm flipH="1">
            <a:off x="467462" y="207830"/>
            <a:ext cx="619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675AB9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Transformers</a:t>
            </a:r>
            <a:endParaRPr b="1" i="0" sz="2400" u="none" cap="none" strike="noStrike">
              <a:solidFill>
                <a:srgbClr val="675A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9" name="Google Shape;229;g2e8d89ffb8f_0_120"/>
          <p:cNvPicPr preferRelativeResize="0"/>
          <p:nvPr/>
        </p:nvPicPr>
        <p:blipFill rotWithShape="1">
          <a:blip r:embed="rId3">
            <a:alphaModFix/>
          </a:blip>
          <a:srcRect b="6742" l="6124" r="64329" t="0"/>
          <a:stretch/>
        </p:blipFill>
        <p:spPr>
          <a:xfrm>
            <a:off x="1055700" y="2203200"/>
            <a:ext cx="1951600" cy="4105523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2e8d89ffb8f_0_120"/>
          <p:cNvSpPr txBox="1"/>
          <p:nvPr/>
        </p:nvSpPr>
        <p:spPr>
          <a:xfrm>
            <a:off x="1055700" y="1426800"/>
            <a:ext cx="2373300" cy="13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So what are transformers then?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1" name="Google Shape;231;g2e8d89ffb8f_0_1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3048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e8d89ffb8f_0_133"/>
          <p:cNvSpPr txBox="1"/>
          <p:nvPr/>
        </p:nvSpPr>
        <p:spPr>
          <a:xfrm flipH="1">
            <a:off x="467462" y="207830"/>
            <a:ext cx="619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675AB9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Transformers</a:t>
            </a:r>
            <a:endParaRPr b="1" i="0" sz="2400" u="none" cap="none" strike="noStrike">
              <a:solidFill>
                <a:srgbClr val="675A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7" name="Google Shape;237;g2e8d89ffb8f_0_133"/>
          <p:cNvPicPr preferRelativeResize="0"/>
          <p:nvPr/>
        </p:nvPicPr>
        <p:blipFill rotWithShape="1">
          <a:blip r:embed="rId3">
            <a:alphaModFix/>
          </a:blip>
          <a:srcRect b="6742" l="6124" r="64329" t="0"/>
          <a:stretch/>
        </p:blipFill>
        <p:spPr>
          <a:xfrm>
            <a:off x="1055700" y="2203200"/>
            <a:ext cx="1951600" cy="4105523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2e8d89ffb8f_0_133"/>
          <p:cNvSpPr txBox="1"/>
          <p:nvPr/>
        </p:nvSpPr>
        <p:spPr>
          <a:xfrm>
            <a:off x="1055700" y="1426800"/>
            <a:ext cx="6094200" cy="13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Transformers are deep neural networks that use a encoder decoder architecture and process large texts using positional encoding and self-attention 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mechanism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9" name="Google Shape;239;g2e8d89ffb8f_0_1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0975" y="942576"/>
            <a:ext cx="3529126" cy="497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g2e8d89ffb8f_0_1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4800" y="3048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e8d89ffb8f_0_140"/>
          <p:cNvSpPr txBox="1"/>
          <p:nvPr/>
        </p:nvSpPr>
        <p:spPr>
          <a:xfrm flipH="1">
            <a:off x="467462" y="207830"/>
            <a:ext cx="619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675AB9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Transformers</a:t>
            </a:r>
            <a:endParaRPr b="1" i="0" sz="2400" u="none" cap="none" strike="noStrike">
              <a:solidFill>
                <a:srgbClr val="675A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6" name="Google Shape;246;g2e8d89ffb8f_0_140"/>
          <p:cNvPicPr preferRelativeResize="0"/>
          <p:nvPr/>
        </p:nvPicPr>
        <p:blipFill rotWithShape="1">
          <a:blip r:embed="rId3">
            <a:alphaModFix/>
          </a:blip>
          <a:srcRect b="6742" l="6124" r="64329" t="0"/>
          <a:stretch/>
        </p:blipFill>
        <p:spPr>
          <a:xfrm>
            <a:off x="1055700" y="2203200"/>
            <a:ext cx="1951600" cy="4105523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g2e8d89ffb8f_0_140"/>
          <p:cNvSpPr txBox="1"/>
          <p:nvPr/>
        </p:nvSpPr>
        <p:spPr>
          <a:xfrm>
            <a:off x="1055700" y="1426800"/>
            <a:ext cx="6094200" cy="13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What is this self-attention and positional encoding that sets transformers apart. Let’s understand this with a simple example.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8" name="Google Shape;248;g2e8d89ffb8f_0_1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3048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e8d89ffb8f_0_147"/>
          <p:cNvSpPr txBox="1"/>
          <p:nvPr/>
        </p:nvSpPr>
        <p:spPr>
          <a:xfrm flipH="1">
            <a:off x="467462" y="207830"/>
            <a:ext cx="619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675AB9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Transformers</a:t>
            </a:r>
            <a:endParaRPr b="1" i="0" sz="2400" u="none" cap="none" strike="noStrike">
              <a:solidFill>
                <a:srgbClr val="675A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4" name="Google Shape;254;g2e8d89ffb8f_0_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9525" y="942576"/>
            <a:ext cx="3529126" cy="49728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2e8d89ffb8f_0_147"/>
          <p:cNvSpPr txBox="1"/>
          <p:nvPr/>
        </p:nvSpPr>
        <p:spPr>
          <a:xfrm>
            <a:off x="1055700" y="1207925"/>
            <a:ext cx="6750900" cy="13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Positional Encoding does the job of preserving the order of sequences in the text data. The positional encodings provide the following features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AutoNum type="arabicPeriod"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Preserving the sequence order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AutoNum type="arabicPeriod"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Maintaining contextual information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AutoNum type="arabicPeriod"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Enhances Generalization 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AutoNum type="arabicPeriod"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Mitigation summary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6" name="Google Shape;256;g2e8d89ffb8f_0_147"/>
          <p:cNvSpPr/>
          <p:nvPr/>
        </p:nvSpPr>
        <p:spPr>
          <a:xfrm>
            <a:off x="6420250" y="4505125"/>
            <a:ext cx="3848400" cy="461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g2e8d89ffb8f_0_147"/>
          <p:cNvPicPr preferRelativeResize="0"/>
          <p:nvPr/>
        </p:nvPicPr>
        <p:blipFill rotWithShape="1">
          <a:blip r:embed="rId4">
            <a:alphaModFix/>
          </a:blip>
          <a:srcRect b="6742" l="6124" r="64329" t="0"/>
          <a:stretch/>
        </p:blipFill>
        <p:spPr>
          <a:xfrm>
            <a:off x="1055700" y="2827100"/>
            <a:ext cx="1655025" cy="3481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g2e8d89ffb8f_0_1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4800" y="3048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e8d89ffb8f_0_153"/>
          <p:cNvSpPr txBox="1"/>
          <p:nvPr/>
        </p:nvSpPr>
        <p:spPr>
          <a:xfrm flipH="1">
            <a:off x="467462" y="207830"/>
            <a:ext cx="619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675AB9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Transformers</a:t>
            </a:r>
            <a:endParaRPr b="1" i="0" sz="2400" u="none" cap="none" strike="noStrike">
              <a:solidFill>
                <a:srgbClr val="675A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4" name="Google Shape;264;g2e8d89ffb8f_0_153"/>
          <p:cNvPicPr preferRelativeResize="0"/>
          <p:nvPr/>
        </p:nvPicPr>
        <p:blipFill rotWithShape="1">
          <a:blip r:embed="rId3">
            <a:alphaModFix/>
          </a:blip>
          <a:srcRect b="6742" l="6124" r="64329" t="0"/>
          <a:stretch/>
        </p:blipFill>
        <p:spPr>
          <a:xfrm>
            <a:off x="1055700" y="2203200"/>
            <a:ext cx="1951600" cy="4105523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g2e8d89ffb8f_0_153"/>
          <p:cNvSpPr txBox="1"/>
          <p:nvPr/>
        </p:nvSpPr>
        <p:spPr>
          <a:xfrm>
            <a:off x="1055700" y="1426800"/>
            <a:ext cx="6896700" cy="13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Self-Attention Mechanism is used mainly in natural language processing tasks that captures the dependencies and other relationships between the input embeddings. The primary goal of the self attention 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mechanism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 is to identify the 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importance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 of different parts of the input sequence by attending to itself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6" name="Google Shape;266;g2e8d89ffb8f_0_1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39525" y="942576"/>
            <a:ext cx="3529126" cy="497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g2e8d89ffb8f_0_1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4800" y="3048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e8d89ffb8f_0_162"/>
          <p:cNvSpPr txBox="1"/>
          <p:nvPr/>
        </p:nvSpPr>
        <p:spPr>
          <a:xfrm flipH="1">
            <a:off x="467462" y="207830"/>
            <a:ext cx="619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675AB9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Transformers</a:t>
            </a:r>
            <a:endParaRPr b="1" i="0" sz="2400" u="none" cap="none" strike="noStrike">
              <a:solidFill>
                <a:srgbClr val="675A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3" name="Google Shape;273;g2e8d89ffb8f_0_162"/>
          <p:cNvPicPr preferRelativeResize="0"/>
          <p:nvPr/>
        </p:nvPicPr>
        <p:blipFill rotWithShape="1">
          <a:blip r:embed="rId3">
            <a:alphaModFix/>
          </a:blip>
          <a:srcRect b="6742" l="6124" r="64329" t="0"/>
          <a:stretch/>
        </p:blipFill>
        <p:spPr>
          <a:xfrm>
            <a:off x="1055700" y="2203200"/>
            <a:ext cx="1951600" cy="4105523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g2e8d89ffb8f_0_162"/>
          <p:cNvSpPr txBox="1"/>
          <p:nvPr/>
        </p:nvSpPr>
        <p:spPr>
          <a:xfrm>
            <a:off x="1055700" y="1426800"/>
            <a:ext cx="6896700" cy="13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Let’s understand the architecture of the  transformers and how it works.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5" name="Google Shape;275;g2e8d89ffb8f_0_1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3048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74a93994ac_0_8"/>
          <p:cNvSpPr txBox="1"/>
          <p:nvPr/>
        </p:nvSpPr>
        <p:spPr>
          <a:xfrm>
            <a:off x="3076575" y="2694712"/>
            <a:ext cx="6096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en-US" sz="4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Transformer Architecture</a:t>
            </a:r>
            <a:endParaRPr b="1" i="0" sz="4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81" name="Google Shape;281;g274a93994ac_0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3048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74a93994ac_0_12"/>
          <p:cNvSpPr txBox="1"/>
          <p:nvPr/>
        </p:nvSpPr>
        <p:spPr>
          <a:xfrm flipH="1">
            <a:off x="467462" y="207830"/>
            <a:ext cx="619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675AB9"/>
                </a:solidFill>
                <a:latin typeface="Montserrat"/>
                <a:ea typeface="Montserrat"/>
                <a:cs typeface="Montserrat"/>
                <a:sym typeface="Montserrat"/>
              </a:rPr>
              <a:t>Transformer</a:t>
            </a:r>
            <a:r>
              <a:rPr b="1" lang="en-US" sz="2400">
                <a:solidFill>
                  <a:srgbClr val="675AB9"/>
                </a:solidFill>
                <a:latin typeface="Montserrat"/>
                <a:ea typeface="Montserrat"/>
                <a:cs typeface="Montserrat"/>
                <a:sym typeface="Montserrat"/>
              </a:rPr>
              <a:t> Architecture</a:t>
            </a:r>
            <a:endParaRPr b="1" i="0" sz="2400" u="none" cap="none" strike="noStrike">
              <a:solidFill>
                <a:srgbClr val="675A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87" name="Google Shape;287;g274a93994ac_0_12"/>
          <p:cNvPicPr preferRelativeResize="0"/>
          <p:nvPr/>
        </p:nvPicPr>
        <p:blipFill rotWithShape="1">
          <a:blip r:embed="rId3">
            <a:alphaModFix/>
          </a:blip>
          <a:srcRect b="6742" l="6124" r="64329" t="0"/>
          <a:stretch/>
        </p:blipFill>
        <p:spPr>
          <a:xfrm>
            <a:off x="1055700" y="2203200"/>
            <a:ext cx="1951600" cy="4105523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g274a93994ac_0_12"/>
          <p:cNvSpPr txBox="1"/>
          <p:nvPr/>
        </p:nvSpPr>
        <p:spPr>
          <a:xfrm>
            <a:off x="1055700" y="1426800"/>
            <a:ext cx="6896700" cy="13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To understand the transformer architecture, we first need to understand the encoder and decoder architecture that makes the transformer.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89" name="Google Shape;289;g274a93994ac_0_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3048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e8e0be81b4_0_0"/>
          <p:cNvSpPr txBox="1"/>
          <p:nvPr/>
        </p:nvSpPr>
        <p:spPr>
          <a:xfrm flipH="1">
            <a:off x="467462" y="207830"/>
            <a:ext cx="619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675AB9"/>
                </a:solidFill>
                <a:latin typeface="Montserrat"/>
                <a:ea typeface="Montserrat"/>
                <a:cs typeface="Montserrat"/>
                <a:sym typeface="Montserrat"/>
              </a:rPr>
              <a:t>Transformer Architecture</a:t>
            </a:r>
            <a:endParaRPr b="1" i="0" sz="2400" u="none" cap="none" strike="noStrike">
              <a:solidFill>
                <a:srgbClr val="675A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5" name="Google Shape;295;g2e8e0be81b4_0_0"/>
          <p:cNvSpPr txBox="1"/>
          <p:nvPr/>
        </p:nvSpPr>
        <p:spPr>
          <a:xfrm>
            <a:off x="1055700" y="1426800"/>
            <a:ext cx="96507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Encoder-Decoder Architecture - To simplify, Let’s say we want to perform a simple translation task using the transformer. So here we have an input that goes through the transformer and we get the output from the encoder-decoder model. 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6" name="Google Shape;296;g2e8e0be81b4_0_0"/>
          <p:cNvSpPr/>
          <p:nvPr/>
        </p:nvSpPr>
        <p:spPr>
          <a:xfrm>
            <a:off x="3727014" y="3154776"/>
            <a:ext cx="1364400" cy="879300"/>
          </a:xfrm>
          <a:prstGeom prst="roundRect">
            <a:avLst>
              <a:gd fmla="val 11702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7" name="Google Shape;297;g2e8e0be81b4_0_0"/>
          <p:cNvSpPr txBox="1"/>
          <p:nvPr/>
        </p:nvSpPr>
        <p:spPr>
          <a:xfrm>
            <a:off x="5017988" y="4521200"/>
            <a:ext cx="16527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Montserrat"/>
                <a:ea typeface="Montserrat"/>
                <a:cs typeface="Montserrat"/>
                <a:sym typeface="Montserrat"/>
              </a:rPr>
              <a:t>Transformer</a:t>
            </a:r>
            <a:endParaRPr b="1" sz="15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8" name="Google Shape;298;g2e8e0be81b4_0_0"/>
          <p:cNvSpPr/>
          <p:nvPr/>
        </p:nvSpPr>
        <p:spPr>
          <a:xfrm>
            <a:off x="6670689" y="3154776"/>
            <a:ext cx="1364400" cy="879300"/>
          </a:xfrm>
          <a:prstGeom prst="roundRect">
            <a:avLst>
              <a:gd fmla="val 11702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9" name="Google Shape;299;g2e8e0be81b4_0_0"/>
          <p:cNvSpPr txBox="1"/>
          <p:nvPr/>
        </p:nvSpPr>
        <p:spPr>
          <a:xfrm>
            <a:off x="4978488" y="2913150"/>
            <a:ext cx="16527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Montserrat"/>
                <a:ea typeface="Montserrat"/>
                <a:cs typeface="Montserrat"/>
                <a:sym typeface="Montserrat"/>
              </a:rPr>
              <a:t>Features</a:t>
            </a:r>
            <a:endParaRPr b="1" sz="15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00" name="Google Shape;300;g2e8e0be81b4_0_0"/>
          <p:cNvCxnSpPr/>
          <p:nvPr/>
        </p:nvCxnSpPr>
        <p:spPr>
          <a:xfrm>
            <a:off x="1586825" y="3594425"/>
            <a:ext cx="18603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" name="Google Shape;301;g2e8e0be81b4_0_0"/>
          <p:cNvCxnSpPr/>
          <p:nvPr/>
        </p:nvCxnSpPr>
        <p:spPr>
          <a:xfrm>
            <a:off x="8681925" y="3594425"/>
            <a:ext cx="18603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2" name="Google Shape;302;g2e8e0be81b4_0_0"/>
          <p:cNvSpPr txBox="1"/>
          <p:nvPr/>
        </p:nvSpPr>
        <p:spPr>
          <a:xfrm>
            <a:off x="1055688" y="3828100"/>
            <a:ext cx="16527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Montserrat"/>
                <a:ea typeface="Montserrat"/>
                <a:cs typeface="Montserrat"/>
                <a:sym typeface="Montserrat"/>
              </a:rPr>
              <a:t>Input</a:t>
            </a:r>
            <a:endParaRPr b="1" sz="15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3" name="Google Shape;303;g2e8e0be81b4_0_0"/>
          <p:cNvSpPr txBox="1"/>
          <p:nvPr/>
        </p:nvSpPr>
        <p:spPr>
          <a:xfrm>
            <a:off x="9053688" y="3828100"/>
            <a:ext cx="16527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Montserrat"/>
                <a:ea typeface="Montserrat"/>
                <a:cs typeface="Montserrat"/>
                <a:sym typeface="Montserrat"/>
              </a:rPr>
              <a:t>Output</a:t>
            </a:r>
            <a:endParaRPr b="1" sz="15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4" name="Google Shape;304;g2e8e0be81b4_0_0"/>
          <p:cNvSpPr txBox="1"/>
          <p:nvPr/>
        </p:nvSpPr>
        <p:spPr>
          <a:xfrm>
            <a:off x="9053688" y="2504900"/>
            <a:ext cx="16527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Montserrat"/>
                <a:ea typeface="Montserrat"/>
                <a:cs typeface="Montserrat"/>
                <a:sym typeface="Montserrat"/>
              </a:rPr>
              <a:t>Bonjour le monde!</a:t>
            </a:r>
            <a:endParaRPr b="1" sz="15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" name="Google Shape;305;g2e8e0be81b4_0_0"/>
          <p:cNvSpPr txBox="1"/>
          <p:nvPr/>
        </p:nvSpPr>
        <p:spPr>
          <a:xfrm>
            <a:off x="1055688" y="2504900"/>
            <a:ext cx="16527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Montserrat"/>
                <a:ea typeface="Montserrat"/>
                <a:cs typeface="Montserrat"/>
                <a:sym typeface="Montserrat"/>
              </a:rPr>
              <a:t>Hello World!</a:t>
            </a:r>
            <a:endParaRPr b="1" sz="15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6" name="Google Shape;306;g2e8e0be81b4_0_0"/>
          <p:cNvSpPr txBox="1"/>
          <p:nvPr/>
        </p:nvSpPr>
        <p:spPr>
          <a:xfrm>
            <a:off x="6526538" y="3154775"/>
            <a:ext cx="16527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Montserrat"/>
                <a:ea typeface="Montserrat"/>
                <a:cs typeface="Montserrat"/>
                <a:sym typeface="Montserrat"/>
              </a:rPr>
              <a:t>Decoder</a:t>
            </a:r>
            <a:endParaRPr b="1" sz="15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7" name="Google Shape;307;g2e8e0be81b4_0_0"/>
          <p:cNvSpPr txBox="1"/>
          <p:nvPr/>
        </p:nvSpPr>
        <p:spPr>
          <a:xfrm>
            <a:off x="3582863" y="3154775"/>
            <a:ext cx="16527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Montserrat"/>
                <a:ea typeface="Montserrat"/>
                <a:cs typeface="Montserrat"/>
                <a:sym typeface="Montserrat"/>
              </a:rPr>
              <a:t>Encoder</a:t>
            </a:r>
            <a:endParaRPr b="1" sz="15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08" name="Google Shape;308;g2e8e0be81b4_0_0"/>
          <p:cNvCxnSpPr>
            <a:stCxn id="307" idx="3"/>
            <a:endCxn id="306" idx="1"/>
          </p:cNvCxnSpPr>
          <p:nvPr/>
        </p:nvCxnSpPr>
        <p:spPr>
          <a:xfrm>
            <a:off x="5235563" y="3594425"/>
            <a:ext cx="12909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9" name="Google Shape;309;g2e8e0be81b4_0_0"/>
          <p:cNvSpPr/>
          <p:nvPr/>
        </p:nvSpPr>
        <p:spPr>
          <a:xfrm>
            <a:off x="3582875" y="2610575"/>
            <a:ext cx="4777500" cy="1967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0" name="Google Shape;310;g2e8e0be81b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3048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e8e0be81b4_0_23"/>
          <p:cNvSpPr txBox="1"/>
          <p:nvPr/>
        </p:nvSpPr>
        <p:spPr>
          <a:xfrm flipH="1">
            <a:off x="467462" y="207830"/>
            <a:ext cx="619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675AB9"/>
                </a:solidFill>
                <a:latin typeface="Montserrat"/>
                <a:ea typeface="Montserrat"/>
                <a:cs typeface="Montserrat"/>
                <a:sym typeface="Montserrat"/>
              </a:rPr>
              <a:t>Transformer Architecture</a:t>
            </a:r>
            <a:endParaRPr b="1" i="0" sz="2400" u="none" cap="none" strike="noStrike">
              <a:solidFill>
                <a:srgbClr val="675A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6" name="Google Shape;316;g2e8e0be81b4_0_23"/>
          <p:cNvPicPr preferRelativeResize="0"/>
          <p:nvPr/>
        </p:nvPicPr>
        <p:blipFill rotWithShape="1">
          <a:blip r:embed="rId3">
            <a:alphaModFix/>
          </a:blip>
          <a:srcRect b="6742" l="6124" r="64329" t="0"/>
          <a:stretch/>
        </p:blipFill>
        <p:spPr>
          <a:xfrm>
            <a:off x="1055700" y="2203200"/>
            <a:ext cx="1951600" cy="4105523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g2e8e0be81b4_0_23"/>
          <p:cNvSpPr txBox="1"/>
          <p:nvPr/>
        </p:nvSpPr>
        <p:spPr>
          <a:xfrm>
            <a:off x="1055700" y="1426800"/>
            <a:ext cx="6896700" cy="13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Let’s dig a little deeper and understand the working of the encoder and decoder architecture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8" name="Google Shape;318;g2e8e0be81b4_0_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3048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e8e0be81b4_0_29"/>
          <p:cNvSpPr txBox="1"/>
          <p:nvPr/>
        </p:nvSpPr>
        <p:spPr>
          <a:xfrm flipH="1">
            <a:off x="467462" y="207830"/>
            <a:ext cx="619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675AB9"/>
                </a:solidFill>
                <a:latin typeface="Montserrat"/>
                <a:ea typeface="Montserrat"/>
                <a:cs typeface="Montserrat"/>
                <a:sym typeface="Montserrat"/>
              </a:rPr>
              <a:t>Transformer Architecture</a:t>
            </a:r>
            <a:endParaRPr b="1" i="0" sz="2400" u="none" cap="none" strike="noStrike">
              <a:solidFill>
                <a:srgbClr val="675A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4" name="Google Shape;324;g2e8e0be81b4_0_29"/>
          <p:cNvSpPr txBox="1"/>
          <p:nvPr/>
        </p:nvSpPr>
        <p:spPr>
          <a:xfrm>
            <a:off x="1055700" y="1426800"/>
            <a:ext cx="96507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Now what happens is that the encoder architecture consists of several other encoders where the input is processed and the output of the last encoder is passed to the 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decoder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25" name="Google Shape;325;g2e8e0be81b4_0_29"/>
          <p:cNvCxnSpPr/>
          <p:nvPr/>
        </p:nvCxnSpPr>
        <p:spPr>
          <a:xfrm>
            <a:off x="1913925" y="3574925"/>
            <a:ext cx="1076100" cy="19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6" name="Google Shape;326;g2e8e0be81b4_0_29"/>
          <p:cNvSpPr txBox="1"/>
          <p:nvPr/>
        </p:nvSpPr>
        <p:spPr>
          <a:xfrm>
            <a:off x="1436688" y="3828100"/>
            <a:ext cx="16527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Montserrat"/>
                <a:ea typeface="Montserrat"/>
                <a:cs typeface="Montserrat"/>
                <a:sym typeface="Montserrat"/>
              </a:rPr>
              <a:t>Input</a:t>
            </a:r>
            <a:endParaRPr b="1" sz="15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7" name="Google Shape;327;g2e8e0be81b4_0_29"/>
          <p:cNvSpPr txBox="1"/>
          <p:nvPr/>
        </p:nvSpPr>
        <p:spPr>
          <a:xfrm>
            <a:off x="1436688" y="2504900"/>
            <a:ext cx="16527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Montserrat"/>
                <a:ea typeface="Montserrat"/>
                <a:cs typeface="Montserrat"/>
                <a:sym typeface="Montserrat"/>
              </a:rPr>
              <a:t>Hello World!</a:t>
            </a:r>
            <a:endParaRPr b="1" sz="15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8" name="Google Shape;328;g2e8e0be81b4_0_29"/>
          <p:cNvSpPr/>
          <p:nvPr/>
        </p:nvSpPr>
        <p:spPr>
          <a:xfrm>
            <a:off x="3125675" y="2610575"/>
            <a:ext cx="5938200" cy="1967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2e8e0be81b4_0_29"/>
          <p:cNvSpPr/>
          <p:nvPr/>
        </p:nvSpPr>
        <p:spPr>
          <a:xfrm rot="5400000">
            <a:off x="3062988" y="3346762"/>
            <a:ext cx="1422600" cy="634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g2e8e0be81b4_0_29"/>
          <p:cNvSpPr txBox="1"/>
          <p:nvPr/>
        </p:nvSpPr>
        <p:spPr>
          <a:xfrm rot="5400000">
            <a:off x="2947938" y="3224200"/>
            <a:ext cx="16527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Montserrat"/>
                <a:ea typeface="Montserrat"/>
                <a:cs typeface="Montserrat"/>
                <a:sym typeface="Montserrat"/>
              </a:rPr>
              <a:t>Encoder</a:t>
            </a:r>
            <a:endParaRPr b="1" sz="15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1" name="Google Shape;331;g2e8e0be81b4_0_29"/>
          <p:cNvSpPr/>
          <p:nvPr/>
        </p:nvSpPr>
        <p:spPr>
          <a:xfrm rot="5400000">
            <a:off x="3942288" y="3346762"/>
            <a:ext cx="1422600" cy="634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g2e8e0be81b4_0_29"/>
          <p:cNvSpPr txBox="1"/>
          <p:nvPr/>
        </p:nvSpPr>
        <p:spPr>
          <a:xfrm rot="5400000">
            <a:off x="3827238" y="3224200"/>
            <a:ext cx="16527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Montserrat"/>
                <a:ea typeface="Montserrat"/>
                <a:cs typeface="Montserrat"/>
                <a:sym typeface="Montserrat"/>
              </a:rPr>
              <a:t>Encoder</a:t>
            </a:r>
            <a:endParaRPr b="1" sz="15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3" name="Google Shape;333;g2e8e0be81b4_0_29"/>
          <p:cNvSpPr/>
          <p:nvPr/>
        </p:nvSpPr>
        <p:spPr>
          <a:xfrm rot="5400000">
            <a:off x="4821588" y="3327537"/>
            <a:ext cx="1422600" cy="634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g2e8e0be81b4_0_29"/>
          <p:cNvSpPr txBox="1"/>
          <p:nvPr/>
        </p:nvSpPr>
        <p:spPr>
          <a:xfrm rot="5400000">
            <a:off x="4706538" y="3204975"/>
            <a:ext cx="16527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Montserrat"/>
                <a:ea typeface="Montserrat"/>
                <a:cs typeface="Montserrat"/>
                <a:sym typeface="Montserrat"/>
              </a:rPr>
              <a:t>Encoder</a:t>
            </a:r>
            <a:endParaRPr b="1" sz="15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5" name="Google Shape;335;g2e8e0be81b4_0_29"/>
          <p:cNvSpPr/>
          <p:nvPr/>
        </p:nvSpPr>
        <p:spPr>
          <a:xfrm rot="5400000">
            <a:off x="5700888" y="3327537"/>
            <a:ext cx="1422600" cy="634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2e8e0be81b4_0_29"/>
          <p:cNvSpPr txBox="1"/>
          <p:nvPr/>
        </p:nvSpPr>
        <p:spPr>
          <a:xfrm rot="5400000">
            <a:off x="5585838" y="3204975"/>
            <a:ext cx="16527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Montserrat"/>
                <a:ea typeface="Montserrat"/>
                <a:cs typeface="Montserrat"/>
                <a:sym typeface="Montserrat"/>
              </a:rPr>
              <a:t>Encoder</a:t>
            </a:r>
            <a:endParaRPr b="1" sz="15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7" name="Google Shape;337;g2e8e0be81b4_0_29"/>
          <p:cNvSpPr/>
          <p:nvPr/>
        </p:nvSpPr>
        <p:spPr>
          <a:xfrm rot="5400000">
            <a:off x="6702738" y="3327537"/>
            <a:ext cx="1422600" cy="634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2e8e0be81b4_0_29"/>
          <p:cNvSpPr txBox="1"/>
          <p:nvPr/>
        </p:nvSpPr>
        <p:spPr>
          <a:xfrm rot="5400000">
            <a:off x="6587688" y="3204975"/>
            <a:ext cx="16527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Montserrat"/>
                <a:ea typeface="Montserrat"/>
                <a:cs typeface="Montserrat"/>
                <a:sym typeface="Montserrat"/>
              </a:rPr>
              <a:t>Encoder</a:t>
            </a:r>
            <a:endParaRPr b="1" sz="15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9" name="Google Shape;339;g2e8e0be81b4_0_29"/>
          <p:cNvSpPr/>
          <p:nvPr/>
        </p:nvSpPr>
        <p:spPr>
          <a:xfrm rot="5400000">
            <a:off x="7582038" y="3327537"/>
            <a:ext cx="1422600" cy="634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2e8e0be81b4_0_29"/>
          <p:cNvSpPr txBox="1"/>
          <p:nvPr/>
        </p:nvSpPr>
        <p:spPr>
          <a:xfrm rot="5400000">
            <a:off x="7466988" y="3204975"/>
            <a:ext cx="16527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Montserrat"/>
                <a:ea typeface="Montserrat"/>
                <a:cs typeface="Montserrat"/>
                <a:sym typeface="Montserrat"/>
              </a:rPr>
              <a:t>Encoder</a:t>
            </a:r>
            <a:endParaRPr b="1" sz="15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1" name="Google Shape;341;g2e8e0be81b4_0_29"/>
          <p:cNvSpPr txBox="1"/>
          <p:nvPr/>
        </p:nvSpPr>
        <p:spPr>
          <a:xfrm>
            <a:off x="9017088" y="2913150"/>
            <a:ext cx="16527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Montserrat"/>
                <a:ea typeface="Montserrat"/>
                <a:cs typeface="Montserrat"/>
                <a:sym typeface="Montserrat"/>
              </a:rPr>
              <a:t>Features</a:t>
            </a:r>
            <a:endParaRPr b="1" sz="15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42" name="Google Shape;342;g2e8e0be81b4_0_29"/>
          <p:cNvCxnSpPr/>
          <p:nvPr/>
        </p:nvCxnSpPr>
        <p:spPr>
          <a:xfrm>
            <a:off x="9274163" y="3594425"/>
            <a:ext cx="12909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43" name="Google Shape;343;g2e8e0be81b4_0_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3048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e8e0be81b4_0_113"/>
          <p:cNvSpPr txBox="1"/>
          <p:nvPr/>
        </p:nvSpPr>
        <p:spPr>
          <a:xfrm flipH="1">
            <a:off x="467462" y="207830"/>
            <a:ext cx="619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675AB9"/>
                </a:solidFill>
                <a:latin typeface="Montserrat"/>
                <a:ea typeface="Montserrat"/>
                <a:cs typeface="Montserrat"/>
                <a:sym typeface="Montserrat"/>
              </a:rPr>
              <a:t>Transformer Architecture</a:t>
            </a:r>
            <a:endParaRPr b="1" i="0" sz="2400" u="none" cap="none" strike="noStrike">
              <a:solidFill>
                <a:srgbClr val="675A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49" name="Google Shape;349;g2e8e0be81b4_0_113"/>
          <p:cNvCxnSpPr/>
          <p:nvPr/>
        </p:nvCxnSpPr>
        <p:spPr>
          <a:xfrm>
            <a:off x="1913925" y="3574925"/>
            <a:ext cx="1076100" cy="19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0" name="Google Shape;350;g2e8e0be81b4_0_113"/>
          <p:cNvSpPr txBox="1"/>
          <p:nvPr/>
        </p:nvSpPr>
        <p:spPr>
          <a:xfrm>
            <a:off x="9209088" y="3828100"/>
            <a:ext cx="16527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Montserrat"/>
                <a:ea typeface="Montserrat"/>
                <a:cs typeface="Montserrat"/>
                <a:sym typeface="Montserrat"/>
              </a:rPr>
              <a:t>Input</a:t>
            </a:r>
            <a:endParaRPr b="1" sz="15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1" name="Google Shape;351;g2e8e0be81b4_0_113"/>
          <p:cNvSpPr txBox="1"/>
          <p:nvPr/>
        </p:nvSpPr>
        <p:spPr>
          <a:xfrm>
            <a:off x="9209088" y="2504900"/>
            <a:ext cx="16527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Montserrat"/>
                <a:ea typeface="Montserrat"/>
                <a:cs typeface="Montserrat"/>
                <a:sym typeface="Montserrat"/>
              </a:rPr>
              <a:t>Bonjour le monde!</a:t>
            </a:r>
            <a:endParaRPr b="1" sz="15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2" name="Google Shape;352;g2e8e0be81b4_0_113"/>
          <p:cNvSpPr/>
          <p:nvPr/>
        </p:nvSpPr>
        <p:spPr>
          <a:xfrm>
            <a:off x="3125675" y="2610575"/>
            <a:ext cx="5938200" cy="1967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g2e8e0be81b4_0_113"/>
          <p:cNvSpPr/>
          <p:nvPr/>
        </p:nvSpPr>
        <p:spPr>
          <a:xfrm rot="5400000">
            <a:off x="3062988" y="3346762"/>
            <a:ext cx="1422600" cy="634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2e8e0be81b4_0_113"/>
          <p:cNvSpPr txBox="1"/>
          <p:nvPr/>
        </p:nvSpPr>
        <p:spPr>
          <a:xfrm rot="5400000">
            <a:off x="2947938" y="3224200"/>
            <a:ext cx="16527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Montserrat"/>
                <a:ea typeface="Montserrat"/>
                <a:cs typeface="Montserrat"/>
                <a:sym typeface="Montserrat"/>
              </a:rPr>
              <a:t>Decoder</a:t>
            </a:r>
            <a:endParaRPr b="1" sz="15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5" name="Google Shape;355;g2e8e0be81b4_0_113"/>
          <p:cNvSpPr/>
          <p:nvPr/>
        </p:nvSpPr>
        <p:spPr>
          <a:xfrm rot="5400000">
            <a:off x="3942288" y="3346762"/>
            <a:ext cx="1422600" cy="634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g2e8e0be81b4_0_113"/>
          <p:cNvSpPr txBox="1"/>
          <p:nvPr/>
        </p:nvSpPr>
        <p:spPr>
          <a:xfrm rot="5400000">
            <a:off x="3827238" y="3224200"/>
            <a:ext cx="16527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Montserrat"/>
                <a:ea typeface="Montserrat"/>
                <a:cs typeface="Montserrat"/>
                <a:sym typeface="Montserrat"/>
              </a:rPr>
              <a:t>Decoder</a:t>
            </a:r>
            <a:endParaRPr b="1" sz="15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7" name="Google Shape;357;g2e8e0be81b4_0_113"/>
          <p:cNvSpPr/>
          <p:nvPr/>
        </p:nvSpPr>
        <p:spPr>
          <a:xfrm rot="5400000">
            <a:off x="4821588" y="3327537"/>
            <a:ext cx="1422600" cy="634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g2e8e0be81b4_0_113"/>
          <p:cNvSpPr txBox="1"/>
          <p:nvPr/>
        </p:nvSpPr>
        <p:spPr>
          <a:xfrm rot="5400000">
            <a:off x="4706538" y="3204975"/>
            <a:ext cx="16527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Montserrat"/>
                <a:ea typeface="Montserrat"/>
                <a:cs typeface="Montserrat"/>
                <a:sym typeface="Montserrat"/>
              </a:rPr>
              <a:t>Decoder</a:t>
            </a:r>
            <a:endParaRPr b="1" sz="15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9" name="Google Shape;359;g2e8e0be81b4_0_113"/>
          <p:cNvSpPr/>
          <p:nvPr/>
        </p:nvSpPr>
        <p:spPr>
          <a:xfrm rot="5400000">
            <a:off x="5700888" y="3327537"/>
            <a:ext cx="1422600" cy="634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2e8e0be81b4_0_113"/>
          <p:cNvSpPr txBox="1"/>
          <p:nvPr/>
        </p:nvSpPr>
        <p:spPr>
          <a:xfrm rot="5400000">
            <a:off x="5585838" y="3204975"/>
            <a:ext cx="16527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Montserrat"/>
                <a:ea typeface="Montserrat"/>
                <a:cs typeface="Montserrat"/>
                <a:sym typeface="Montserrat"/>
              </a:rPr>
              <a:t>Decoder</a:t>
            </a:r>
            <a:endParaRPr b="1" sz="15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1" name="Google Shape;361;g2e8e0be81b4_0_113"/>
          <p:cNvSpPr/>
          <p:nvPr/>
        </p:nvSpPr>
        <p:spPr>
          <a:xfrm rot="5400000">
            <a:off x="6702738" y="3327537"/>
            <a:ext cx="1422600" cy="634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2e8e0be81b4_0_113"/>
          <p:cNvSpPr txBox="1"/>
          <p:nvPr/>
        </p:nvSpPr>
        <p:spPr>
          <a:xfrm rot="5400000">
            <a:off x="6587688" y="3204975"/>
            <a:ext cx="16527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Montserrat"/>
                <a:ea typeface="Montserrat"/>
                <a:cs typeface="Montserrat"/>
                <a:sym typeface="Montserrat"/>
              </a:rPr>
              <a:t>Decoder</a:t>
            </a:r>
            <a:endParaRPr b="1" sz="15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3" name="Google Shape;363;g2e8e0be81b4_0_113"/>
          <p:cNvSpPr/>
          <p:nvPr/>
        </p:nvSpPr>
        <p:spPr>
          <a:xfrm rot="5400000">
            <a:off x="7582038" y="3327537"/>
            <a:ext cx="1422600" cy="634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g2e8e0be81b4_0_113"/>
          <p:cNvSpPr txBox="1"/>
          <p:nvPr/>
        </p:nvSpPr>
        <p:spPr>
          <a:xfrm rot="5400000">
            <a:off x="7466988" y="3204975"/>
            <a:ext cx="16527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Montserrat"/>
                <a:ea typeface="Montserrat"/>
                <a:cs typeface="Montserrat"/>
                <a:sym typeface="Montserrat"/>
              </a:rPr>
              <a:t>Decoder</a:t>
            </a:r>
            <a:endParaRPr b="1" sz="15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" name="Google Shape;365;g2e8e0be81b4_0_113"/>
          <p:cNvSpPr txBox="1"/>
          <p:nvPr/>
        </p:nvSpPr>
        <p:spPr>
          <a:xfrm>
            <a:off x="1559388" y="2836950"/>
            <a:ext cx="16527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Montserrat"/>
                <a:ea typeface="Montserrat"/>
                <a:cs typeface="Montserrat"/>
                <a:sym typeface="Montserrat"/>
              </a:rPr>
              <a:t>Features</a:t>
            </a:r>
            <a:endParaRPr b="1" sz="15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66" name="Google Shape;366;g2e8e0be81b4_0_113"/>
          <p:cNvCxnSpPr/>
          <p:nvPr/>
        </p:nvCxnSpPr>
        <p:spPr>
          <a:xfrm>
            <a:off x="9274163" y="3594425"/>
            <a:ext cx="12909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7" name="Google Shape;367;g2e8e0be81b4_0_113"/>
          <p:cNvSpPr txBox="1"/>
          <p:nvPr/>
        </p:nvSpPr>
        <p:spPr>
          <a:xfrm>
            <a:off x="1055700" y="1426800"/>
            <a:ext cx="96507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Similarly, the decoder also consists of various other decoder modules through which the features are passed for the desired output.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68" name="Google Shape;368;g2e8e0be81b4_0_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3048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e8e0be81b4_0_155"/>
          <p:cNvSpPr txBox="1"/>
          <p:nvPr/>
        </p:nvSpPr>
        <p:spPr>
          <a:xfrm flipH="1">
            <a:off x="467462" y="207830"/>
            <a:ext cx="619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675AB9"/>
                </a:solidFill>
                <a:latin typeface="Montserrat"/>
                <a:ea typeface="Montserrat"/>
                <a:cs typeface="Montserrat"/>
                <a:sym typeface="Montserrat"/>
              </a:rPr>
              <a:t>Transformer Architecture</a:t>
            </a:r>
            <a:endParaRPr b="1" i="0" sz="2400" u="none" cap="none" strike="noStrike">
              <a:solidFill>
                <a:srgbClr val="675A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4" name="Google Shape;374;g2e8e0be81b4_0_155"/>
          <p:cNvSpPr txBox="1"/>
          <p:nvPr/>
        </p:nvSpPr>
        <p:spPr>
          <a:xfrm>
            <a:off x="1055700" y="1426800"/>
            <a:ext cx="96507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Each decoder block receives the features from the encoder block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5" name="Google Shape;375;g2e8e0be81b4_0_155"/>
          <p:cNvSpPr/>
          <p:nvPr/>
        </p:nvSpPr>
        <p:spPr>
          <a:xfrm>
            <a:off x="1030188" y="3975012"/>
            <a:ext cx="1422600" cy="634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g2e8e0be81b4_0_155"/>
          <p:cNvSpPr txBox="1"/>
          <p:nvPr/>
        </p:nvSpPr>
        <p:spPr>
          <a:xfrm>
            <a:off x="915138" y="3852450"/>
            <a:ext cx="16527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Montserrat"/>
                <a:ea typeface="Montserrat"/>
                <a:cs typeface="Montserrat"/>
                <a:sym typeface="Montserrat"/>
              </a:rPr>
              <a:t>Input</a:t>
            </a:r>
            <a:endParaRPr b="1" sz="15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7" name="Google Shape;377;g2e8e0be81b4_0_155"/>
          <p:cNvSpPr/>
          <p:nvPr/>
        </p:nvSpPr>
        <p:spPr>
          <a:xfrm>
            <a:off x="3239325" y="3352788"/>
            <a:ext cx="2261700" cy="187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g2e8e0be81b4_0_155"/>
          <p:cNvSpPr/>
          <p:nvPr/>
        </p:nvSpPr>
        <p:spPr>
          <a:xfrm>
            <a:off x="6212350" y="3352788"/>
            <a:ext cx="2261700" cy="187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g2e8e0be81b4_0_155"/>
          <p:cNvSpPr/>
          <p:nvPr/>
        </p:nvSpPr>
        <p:spPr>
          <a:xfrm>
            <a:off x="3658863" y="2107362"/>
            <a:ext cx="1422600" cy="634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g2e8e0be81b4_0_155"/>
          <p:cNvSpPr txBox="1"/>
          <p:nvPr/>
        </p:nvSpPr>
        <p:spPr>
          <a:xfrm>
            <a:off x="3543813" y="1984800"/>
            <a:ext cx="16527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Montserrat"/>
                <a:ea typeface="Montserrat"/>
                <a:cs typeface="Montserrat"/>
                <a:sym typeface="Montserrat"/>
              </a:rPr>
              <a:t>Features</a:t>
            </a:r>
            <a:endParaRPr b="1" sz="15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1" name="Google Shape;381;g2e8e0be81b4_0_155"/>
          <p:cNvSpPr/>
          <p:nvPr/>
        </p:nvSpPr>
        <p:spPr>
          <a:xfrm>
            <a:off x="9677838" y="3975012"/>
            <a:ext cx="1422600" cy="634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g2e8e0be81b4_0_155"/>
          <p:cNvSpPr txBox="1"/>
          <p:nvPr/>
        </p:nvSpPr>
        <p:spPr>
          <a:xfrm>
            <a:off x="9562788" y="3852450"/>
            <a:ext cx="16527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Montserrat"/>
                <a:ea typeface="Montserrat"/>
                <a:cs typeface="Montserrat"/>
                <a:sym typeface="Montserrat"/>
              </a:rPr>
              <a:t>Output</a:t>
            </a:r>
            <a:endParaRPr b="1" sz="15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83" name="Google Shape;383;g2e8e0be81b4_0_155"/>
          <p:cNvCxnSpPr>
            <a:stCxn id="376" idx="3"/>
            <a:endCxn id="377" idx="1"/>
          </p:cNvCxnSpPr>
          <p:nvPr/>
        </p:nvCxnSpPr>
        <p:spPr>
          <a:xfrm>
            <a:off x="2567838" y="4292100"/>
            <a:ext cx="671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4" name="Google Shape;384;g2e8e0be81b4_0_155"/>
          <p:cNvCxnSpPr>
            <a:stCxn id="377" idx="0"/>
            <a:endCxn id="380" idx="1"/>
          </p:cNvCxnSpPr>
          <p:nvPr/>
        </p:nvCxnSpPr>
        <p:spPr>
          <a:xfrm flipH="1" rot="5400000">
            <a:off x="3492825" y="2475438"/>
            <a:ext cx="928200" cy="826500"/>
          </a:xfrm>
          <a:prstGeom prst="curvedConnector4">
            <a:avLst>
              <a:gd fmla="val 26324" name="adj1"/>
              <a:gd fmla="val 128795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" name="Google Shape;385;g2e8e0be81b4_0_155"/>
          <p:cNvCxnSpPr>
            <a:stCxn id="380" idx="3"/>
            <a:endCxn id="378" idx="0"/>
          </p:cNvCxnSpPr>
          <p:nvPr/>
        </p:nvCxnSpPr>
        <p:spPr>
          <a:xfrm>
            <a:off x="5196513" y="2424450"/>
            <a:ext cx="2146800" cy="9282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" name="Google Shape;386;g2e8e0be81b4_0_155"/>
          <p:cNvCxnSpPr>
            <a:stCxn id="378" idx="3"/>
            <a:endCxn id="382" idx="1"/>
          </p:cNvCxnSpPr>
          <p:nvPr/>
        </p:nvCxnSpPr>
        <p:spPr>
          <a:xfrm>
            <a:off x="8474050" y="4292088"/>
            <a:ext cx="1088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7" name="Google Shape;387;g2e8e0be81b4_0_155"/>
          <p:cNvSpPr txBox="1"/>
          <p:nvPr/>
        </p:nvSpPr>
        <p:spPr>
          <a:xfrm>
            <a:off x="3563738" y="3852450"/>
            <a:ext cx="16527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Montserrat"/>
                <a:ea typeface="Montserrat"/>
                <a:cs typeface="Montserrat"/>
                <a:sym typeface="Montserrat"/>
              </a:rPr>
              <a:t>Encoder</a:t>
            </a:r>
            <a:endParaRPr b="1" sz="15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8" name="Google Shape;388;g2e8e0be81b4_0_155"/>
          <p:cNvSpPr txBox="1"/>
          <p:nvPr/>
        </p:nvSpPr>
        <p:spPr>
          <a:xfrm>
            <a:off x="6563263" y="3852450"/>
            <a:ext cx="16527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Montserrat"/>
                <a:ea typeface="Montserrat"/>
                <a:cs typeface="Montserrat"/>
                <a:sym typeface="Montserrat"/>
              </a:rPr>
              <a:t>Decoder</a:t>
            </a:r>
            <a:endParaRPr b="1" sz="15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9" name="Google Shape;389;g2e8e0be81b4_0_155"/>
          <p:cNvSpPr txBox="1"/>
          <p:nvPr/>
        </p:nvSpPr>
        <p:spPr>
          <a:xfrm>
            <a:off x="3467613" y="5043275"/>
            <a:ext cx="16527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Montserrat"/>
                <a:ea typeface="Montserrat"/>
                <a:cs typeface="Montserrat"/>
                <a:sym typeface="Montserrat"/>
              </a:rPr>
              <a:t>Nx</a:t>
            </a:r>
            <a:endParaRPr b="1" sz="15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0" name="Google Shape;390;g2e8e0be81b4_0_155"/>
          <p:cNvSpPr txBox="1"/>
          <p:nvPr/>
        </p:nvSpPr>
        <p:spPr>
          <a:xfrm>
            <a:off x="6440638" y="5043275"/>
            <a:ext cx="16527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Montserrat"/>
                <a:ea typeface="Montserrat"/>
                <a:cs typeface="Montserrat"/>
                <a:sym typeface="Montserrat"/>
              </a:rPr>
              <a:t>Nx</a:t>
            </a:r>
            <a:endParaRPr b="1" sz="15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91" name="Google Shape;391;g2e8e0be81b4_0_1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3048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e8e0be81b4_0_208"/>
          <p:cNvSpPr txBox="1"/>
          <p:nvPr/>
        </p:nvSpPr>
        <p:spPr>
          <a:xfrm flipH="1">
            <a:off x="467462" y="207830"/>
            <a:ext cx="619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675AB9"/>
                </a:solidFill>
                <a:latin typeface="Montserrat"/>
                <a:ea typeface="Montserrat"/>
                <a:cs typeface="Montserrat"/>
                <a:sym typeface="Montserrat"/>
              </a:rPr>
              <a:t>Transformer Architecture</a:t>
            </a:r>
            <a:endParaRPr b="1" i="0" sz="2400" u="none" cap="none" strike="noStrike">
              <a:solidFill>
                <a:srgbClr val="675A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7" name="Google Shape;397;g2e8e0be81b4_0_208"/>
          <p:cNvSpPr txBox="1"/>
          <p:nvPr/>
        </p:nvSpPr>
        <p:spPr>
          <a:xfrm>
            <a:off x="1055700" y="1426800"/>
            <a:ext cx="42702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Now let’s consider input embeddings and positional encoding and how they play their part in the transformer architecture. These are the following steps that are followed: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AutoNum type="arabicPeriod"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The words in the sentences are tokenized using tokenizers and converted into word embeddings. 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For example - if the model uses a 512-dimensional 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vector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 for embeddings, a 200 word sentence will become (200,512) in shape.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AutoNum type="arabicPeriod"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Positional encoding is injected to each word embeddings to identify positions without recurrence.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AutoNum type="arabicPeriod"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The sequence of the embedding 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vectors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 represent the 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positions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 and semantics of the token.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98" name="Google Shape;398;g2e8e0be81b4_0_2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7925" y="1573111"/>
            <a:ext cx="4270200" cy="3711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g2e8e0be81b4_0_2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3048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e954bb029d_0_32"/>
          <p:cNvSpPr txBox="1"/>
          <p:nvPr/>
        </p:nvSpPr>
        <p:spPr>
          <a:xfrm flipH="1">
            <a:off x="467462" y="207830"/>
            <a:ext cx="619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675AB9"/>
                </a:solidFill>
                <a:latin typeface="Montserrat"/>
                <a:ea typeface="Montserrat"/>
                <a:cs typeface="Montserrat"/>
                <a:sym typeface="Montserrat"/>
              </a:rPr>
              <a:t>Transformer Architecture</a:t>
            </a:r>
            <a:endParaRPr b="1" i="0" sz="2400" u="none" cap="none" strike="noStrike">
              <a:solidFill>
                <a:srgbClr val="675A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5" name="Google Shape;405;g2e954bb029d_0_32"/>
          <p:cNvSpPr/>
          <p:nvPr/>
        </p:nvSpPr>
        <p:spPr>
          <a:xfrm>
            <a:off x="1460882" y="1706112"/>
            <a:ext cx="5010000" cy="634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g2e954bb029d_0_32"/>
          <p:cNvSpPr txBox="1"/>
          <p:nvPr/>
        </p:nvSpPr>
        <p:spPr>
          <a:xfrm>
            <a:off x="1055703" y="1583550"/>
            <a:ext cx="58206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Montserrat SemiBold"/>
                <a:ea typeface="Montserrat SemiBold"/>
                <a:cs typeface="Montserrat SemiBold"/>
                <a:sym typeface="Montserrat SemiBold"/>
              </a:rPr>
              <a:t>(‘Hello’, ‘world’, ‘!’, &lt;pad&gt;, &lt;pad&gt;, …, &lt;pad&gt;)</a:t>
            </a:r>
            <a:endParaRPr sz="15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07" name="Google Shape;407;g2e954bb029d_0_32"/>
          <p:cNvSpPr txBox="1"/>
          <p:nvPr/>
        </p:nvSpPr>
        <p:spPr>
          <a:xfrm>
            <a:off x="1270650" y="3579050"/>
            <a:ext cx="96507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The words of input are tokenized and the tokenized sentence is a fixed-length sequence. In the above example, the padding has been added for a max 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length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 sentence of 200. 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08" name="Google Shape;408;g2e954bb029d_0_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3048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2e954bb029d_0_53"/>
          <p:cNvSpPr txBox="1"/>
          <p:nvPr/>
        </p:nvSpPr>
        <p:spPr>
          <a:xfrm flipH="1">
            <a:off x="467462" y="207830"/>
            <a:ext cx="619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675AB9"/>
                </a:solidFill>
                <a:latin typeface="Montserrat"/>
                <a:ea typeface="Montserrat"/>
                <a:cs typeface="Montserrat"/>
                <a:sym typeface="Montserrat"/>
              </a:rPr>
              <a:t>Transformer Architecture</a:t>
            </a:r>
            <a:endParaRPr b="1" i="0" sz="2400" u="none" cap="none" strike="noStrike">
              <a:solidFill>
                <a:srgbClr val="675A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4" name="Google Shape;414;g2e954bb029d_0_53"/>
          <p:cNvSpPr/>
          <p:nvPr/>
        </p:nvSpPr>
        <p:spPr>
          <a:xfrm>
            <a:off x="1460882" y="1706112"/>
            <a:ext cx="5010000" cy="634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g2e954bb029d_0_53"/>
          <p:cNvSpPr txBox="1"/>
          <p:nvPr/>
        </p:nvSpPr>
        <p:spPr>
          <a:xfrm>
            <a:off x="1055703" y="1583550"/>
            <a:ext cx="58206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Montserrat SemiBold"/>
                <a:ea typeface="Montserrat SemiBold"/>
                <a:cs typeface="Montserrat SemiBold"/>
                <a:sym typeface="Montserrat SemiBold"/>
              </a:rPr>
              <a:t>(8667, 1362, 106, 0, 0, …, 0)</a:t>
            </a:r>
            <a:endParaRPr sz="15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16" name="Google Shape;416;g2e954bb029d_0_53"/>
          <p:cNvSpPr txBox="1"/>
          <p:nvPr/>
        </p:nvSpPr>
        <p:spPr>
          <a:xfrm>
            <a:off x="1270650" y="3579050"/>
            <a:ext cx="96507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The tokenized sentences are integer indices, so the tokenized array would look like shown in the example. The number - 8667 corresponds to 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Hello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. After the 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tokenization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 is done, the embedding vectors enriched with positional embedding is added to sequence for it to go to the encoder architecture. 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17" name="Google Shape;417;g2e954bb029d_0_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3048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2e954bb029d_0_39"/>
          <p:cNvSpPr txBox="1"/>
          <p:nvPr/>
        </p:nvSpPr>
        <p:spPr>
          <a:xfrm flipH="1">
            <a:off x="467462" y="207830"/>
            <a:ext cx="619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675AB9"/>
                </a:solidFill>
                <a:latin typeface="Montserrat"/>
                <a:ea typeface="Montserrat"/>
                <a:cs typeface="Montserrat"/>
                <a:sym typeface="Montserrat"/>
              </a:rPr>
              <a:t>Transformer Architecture</a:t>
            </a:r>
            <a:endParaRPr b="1" i="0" sz="2400" u="none" cap="none" strike="noStrike">
              <a:solidFill>
                <a:srgbClr val="675A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23" name="Google Shape;423;g2e954bb029d_0_39"/>
          <p:cNvPicPr preferRelativeResize="0"/>
          <p:nvPr/>
        </p:nvPicPr>
        <p:blipFill rotWithShape="1">
          <a:blip r:embed="rId3">
            <a:alphaModFix/>
          </a:blip>
          <a:srcRect b="0" l="19821" r="36615" t="0"/>
          <a:stretch/>
        </p:blipFill>
        <p:spPr>
          <a:xfrm>
            <a:off x="7816750" y="1405600"/>
            <a:ext cx="3319576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g2e954bb029d_0_39"/>
          <p:cNvSpPr txBox="1"/>
          <p:nvPr/>
        </p:nvSpPr>
        <p:spPr>
          <a:xfrm>
            <a:off x="1055700" y="2518675"/>
            <a:ext cx="4270200" cy="19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At this stage, the encoder will use the self attention 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mechanism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 to enrich the tokens with contextual information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The self-attention mechanism employs multiple heads, since each token may 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have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 multiple semantics/function, the model taps into different embedding 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subspaces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25" name="Google Shape;425;g2e954bb029d_0_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3048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e954bb029d_0_70"/>
          <p:cNvSpPr txBox="1"/>
          <p:nvPr/>
        </p:nvSpPr>
        <p:spPr>
          <a:xfrm flipH="1">
            <a:off x="467462" y="207830"/>
            <a:ext cx="619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675AB9"/>
                </a:solidFill>
                <a:latin typeface="Montserrat"/>
                <a:ea typeface="Montserrat"/>
                <a:cs typeface="Montserrat"/>
                <a:sym typeface="Montserrat"/>
              </a:rPr>
              <a:t>Transformer Architecture</a:t>
            </a:r>
            <a:endParaRPr b="1" i="0" sz="2400" u="none" cap="none" strike="noStrike">
              <a:solidFill>
                <a:srgbClr val="675A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31" name="Google Shape;431;g2e954bb029d_0_70"/>
          <p:cNvPicPr preferRelativeResize="0"/>
          <p:nvPr/>
        </p:nvPicPr>
        <p:blipFill rotWithShape="1">
          <a:blip r:embed="rId3">
            <a:alphaModFix/>
          </a:blip>
          <a:srcRect b="0" l="15710" r="37614" t="0"/>
          <a:stretch/>
        </p:blipFill>
        <p:spPr>
          <a:xfrm>
            <a:off x="7579650" y="1114425"/>
            <a:ext cx="3556676" cy="462915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g2e954bb029d_0_70"/>
          <p:cNvSpPr txBox="1"/>
          <p:nvPr/>
        </p:nvSpPr>
        <p:spPr>
          <a:xfrm>
            <a:off x="1055700" y="2127000"/>
            <a:ext cx="4270200" cy="26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The position wise feed forward network has a linear layer, a ReLU and another linear layer, where each vector embeddings are processed 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independently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Although the weights in the FFN are same across all positions in each layer, the embeddings go through dimensionality expansion.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dimensionality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 expansion introduces non-linearity 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without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 losing much 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information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 and helps in preserving more information from the embedding vectors.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33" name="Google Shape;433;g2e954bb029d_0_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3048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e954bb029d_0_74"/>
          <p:cNvSpPr txBox="1"/>
          <p:nvPr/>
        </p:nvSpPr>
        <p:spPr>
          <a:xfrm flipH="1">
            <a:off x="467462" y="207830"/>
            <a:ext cx="619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675AB9"/>
                </a:solidFill>
                <a:latin typeface="Montserrat"/>
                <a:ea typeface="Montserrat"/>
                <a:cs typeface="Montserrat"/>
                <a:sym typeface="Montserrat"/>
              </a:rPr>
              <a:t>Transformer Architecture</a:t>
            </a:r>
            <a:endParaRPr b="1" i="0" sz="2400" u="none" cap="none" strike="noStrike">
              <a:solidFill>
                <a:srgbClr val="675A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39" name="Google Shape;439;g2e954bb029d_0_74"/>
          <p:cNvPicPr preferRelativeResize="0"/>
          <p:nvPr/>
        </p:nvPicPr>
        <p:blipFill rotWithShape="1">
          <a:blip r:embed="rId3">
            <a:alphaModFix/>
          </a:blip>
          <a:srcRect b="0" l="11856" r="38328" t="0"/>
          <a:stretch/>
        </p:blipFill>
        <p:spPr>
          <a:xfrm>
            <a:off x="7340350" y="1028700"/>
            <a:ext cx="3795976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g2e954bb029d_0_74"/>
          <p:cNvSpPr txBox="1"/>
          <p:nvPr/>
        </p:nvSpPr>
        <p:spPr>
          <a:xfrm>
            <a:off x="1055700" y="2263800"/>
            <a:ext cx="4270200" cy="23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Encoder block uses element wise 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addition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 i.e residual connection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Residual connections carry over the previous embeddings to the subsequent layers. 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The encoder blocks enrich the embedding vectors with additional information obtained from the multi-head self-attention and position-wise feed-forward networks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41" name="Google Shape;441;g2e954bb029d_0_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3048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2e954bb029d_0_65"/>
          <p:cNvSpPr txBox="1"/>
          <p:nvPr/>
        </p:nvSpPr>
        <p:spPr>
          <a:xfrm flipH="1">
            <a:off x="467462" y="207830"/>
            <a:ext cx="619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675AB9"/>
                </a:solidFill>
                <a:latin typeface="Montserrat"/>
                <a:ea typeface="Montserrat"/>
                <a:cs typeface="Montserrat"/>
                <a:sym typeface="Montserrat"/>
              </a:rPr>
              <a:t>Transformer Architecture</a:t>
            </a:r>
            <a:endParaRPr b="1" i="0" sz="2400" u="none" cap="none" strike="noStrike">
              <a:solidFill>
                <a:srgbClr val="675A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47" name="Google Shape;447;g2e954bb029d_0_65"/>
          <p:cNvPicPr preferRelativeResize="0"/>
          <p:nvPr/>
        </p:nvPicPr>
        <p:blipFill rotWithShape="1">
          <a:blip r:embed="rId3">
            <a:alphaModFix/>
          </a:blip>
          <a:srcRect b="0" l="12955" r="37099" t="0"/>
          <a:stretch/>
        </p:blipFill>
        <p:spPr>
          <a:xfrm>
            <a:off x="6664550" y="934100"/>
            <a:ext cx="4286226" cy="5374625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g2e954bb029d_0_65"/>
          <p:cNvSpPr txBox="1"/>
          <p:nvPr/>
        </p:nvSpPr>
        <p:spPr>
          <a:xfrm>
            <a:off x="1055700" y="2528250"/>
            <a:ext cx="4270200" cy="18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After each residual connection, there is a layer normalization.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This step helps in maintaining the mean and standard deviation of the embedding vectors that in turn helps in 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training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Unlike batch normalization, each embedding vector is normalized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49" name="Google Shape;449;g2e954bb029d_0_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3048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2e8e0be81b4_0_230"/>
          <p:cNvSpPr txBox="1"/>
          <p:nvPr/>
        </p:nvSpPr>
        <p:spPr>
          <a:xfrm flipH="1">
            <a:off x="467462" y="207830"/>
            <a:ext cx="619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675AB9"/>
                </a:solidFill>
                <a:latin typeface="Montserrat"/>
                <a:ea typeface="Montserrat"/>
                <a:cs typeface="Montserrat"/>
                <a:sym typeface="Montserrat"/>
              </a:rPr>
              <a:t>Transformer Architecture</a:t>
            </a:r>
            <a:endParaRPr b="1" i="0" sz="2400" u="none" cap="none" strike="noStrike">
              <a:solidFill>
                <a:srgbClr val="675A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55" name="Google Shape;455;g2e8e0be81b4_0_230"/>
          <p:cNvPicPr preferRelativeResize="0"/>
          <p:nvPr/>
        </p:nvPicPr>
        <p:blipFill rotWithShape="1">
          <a:blip r:embed="rId3">
            <a:alphaModFix/>
          </a:blip>
          <a:srcRect b="6742" l="6124" r="64329" t="0"/>
          <a:stretch/>
        </p:blipFill>
        <p:spPr>
          <a:xfrm>
            <a:off x="1055700" y="2203200"/>
            <a:ext cx="1951600" cy="4105523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g2e8e0be81b4_0_230"/>
          <p:cNvSpPr txBox="1"/>
          <p:nvPr/>
        </p:nvSpPr>
        <p:spPr>
          <a:xfrm>
            <a:off x="1055700" y="1426800"/>
            <a:ext cx="6896700" cy="13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Now that we know, how the encoder works, let us also understand how the data reached the decoder and how it actually works.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57" name="Google Shape;457;g2e8e0be81b4_0_2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3048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e8e0be81b4_0_238"/>
          <p:cNvSpPr txBox="1"/>
          <p:nvPr/>
        </p:nvSpPr>
        <p:spPr>
          <a:xfrm flipH="1">
            <a:off x="467462" y="207830"/>
            <a:ext cx="619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675AB9"/>
                </a:solidFill>
                <a:latin typeface="Montserrat"/>
                <a:ea typeface="Montserrat"/>
                <a:cs typeface="Montserrat"/>
                <a:sym typeface="Montserrat"/>
              </a:rPr>
              <a:t>Transformer Architecture</a:t>
            </a:r>
            <a:endParaRPr b="1" i="0" sz="2400" u="none" cap="none" strike="noStrike">
              <a:solidFill>
                <a:srgbClr val="675A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3" name="Google Shape;463;g2e8e0be81b4_0_238"/>
          <p:cNvSpPr txBox="1"/>
          <p:nvPr/>
        </p:nvSpPr>
        <p:spPr>
          <a:xfrm>
            <a:off x="1055700" y="1426800"/>
            <a:ext cx="47445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The decoder block receives the enriched embeddings with positional encoding from the encoder. After this, the decoder will process the vectors in the following ways: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AutoNum type="arabicPeriod"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The decoder outputs one token at a time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AutoNum type="arabicPeriod"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a previous output from the decoder becomes the last part of the next input to the decoder i.e auto-regressive approach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AutoNum type="arabicPeriod"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To 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initiate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 the translation, the decoder passes an &lt;sos&gt; start of sentence marker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AutoNum type="arabicPeriod"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Multiple decoder blocks adds the contextual information from the features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AutoNum type="arabicPeriod"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The output vector also goes through linear transformations and the softmax layer further converts the 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vector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 into output 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probabilities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64" name="Google Shape;464;g2e8e0be81b4_0_2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1700" y="1611500"/>
            <a:ext cx="3904613" cy="449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g2e8e0be81b4_0_2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3048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2e954bb029d_0_25"/>
          <p:cNvSpPr txBox="1"/>
          <p:nvPr/>
        </p:nvSpPr>
        <p:spPr>
          <a:xfrm flipH="1">
            <a:off x="467462" y="207830"/>
            <a:ext cx="619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675AB9"/>
                </a:solidFill>
                <a:latin typeface="Montserrat"/>
                <a:ea typeface="Montserrat"/>
                <a:cs typeface="Montserrat"/>
                <a:sym typeface="Montserrat"/>
              </a:rPr>
              <a:t>Transformer Architecture</a:t>
            </a:r>
            <a:endParaRPr b="1" i="0" sz="2400" u="none" cap="none" strike="noStrike">
              <a:solidFill>
                <a:srgbClr val="675A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1" name="Google Shape;471;g2e954bb029d_0_25"/>
          <p:cNvSpPr txBox="1"/>
          <p:nvPr/>
        </p:nvSpPr>
        <p:spPr>
          <a:xfrm>
            <a:off x="1055700" y="3151950"/>
            <a:ext cx="427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The decoder block works similar to the encoder block, only it focuses on the source-target attention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72" name="Google Shape;472;g2e954bb029d_0_25"/>
          <p:cNvPicPr preferRelativeResize="0"/>
          <p:nvPr/>
        </p:nvPicPr>
        <p:blipFill rotWithShape="1">
          <a:blip r:embed="rId3">
            <a:alphaModFix/>
          </a:blip>
          <a:srcRect b="0" l="27144" r="21707" t="0"/>
          <a:stretch/>
        </p:blipFill>
        <p:spPr>
          <a:xfrm>
            <a:off x="7780300" y="669525"/>
            <a:ext cx="3356026" cy="574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g2e954bb029d_0_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3048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2e954bb029d_0_88"/>
          <p:cNvSpPr txBox="1"/>
          <p:nvPr/>
        </p:nvSpPr>
        <p:spPr>
          <a:xfrm flipH="1">
            <a:off x="467462" y="207830"/>
            <a:ext cx="619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675AB9"/>
                </a:solidFill>
                <a:latin typeface="Montserrat"/>
                <a:ea typeface="Montserrat"/>
                <a:cs typeface="Montserrat"/>
                <a:sym typeface="Montserrat"/>
              </a:rPr>
              <a:t>Transformer Architecture</a:t>
            </a:r>
            <a:endParaRPr b="1" i="0" sz="2400" u="none" cap="none" strike="noStrike">
              <a:solidFill>
                <a:srgbClr val="675A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9" name="Google Shape;479;g2e954bb029d_0_88"/>
          <p:cNvSpPr txBox="1"/>
          <p:nvPr/>
        </p:nvSpPr>
        <p:spPr>
          <a:xfrm>
            <a:off x="1055700" y="2876700"/>
            <a:ext cx="4270200" cy="13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Masked multi-head attention means receives input that has masked values and do not use those values from the hidden positions. 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The softmax within the attention mechanisms effectively assigns zero probability to masked positions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80" name="Google Shape;480;g2e954bb029d_0_88"/>
          <p:cNvPicPr preferRelativeResize="0"/>
          <p:nvPr/>
        </p:nvPicPr>
        <p:blipFill rotWithShape="1">
          <a:blip r:embed="rId3">
            <a:alphaModFix/>
          </a:blip>
          <a:srcRect b="0" l="27144" r="21707" t="0"/>
          <a:stretch/>
        </p:blipFill>
        <p:spPr>
          <a:xfrm>
            <a:off x="7780300" y="669525"/>
            <a:ext cx="3356026" cy="574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g2e954bb029d_0_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3048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2e954bb029d_0_95"/>
          <p:cNvSpPr txBox="1"/>
          <p:nvPr/>
        </p:nvSpPr>
        <p:spPr>
          <a:xfrm flipH="1">
            <a:off x="467462" y="207830"/>
            <a:ext cx="619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675AB9"/>
                </a:solidFill>
                <a:latin typeface="Montserrat"/>
                <a:ea typeface="Montserrat"/>
                <a:cs typeface="Montserrat"/>
                <a:sym typeface="Montserrat"/>
              </a:rPr>
              <a:t>Transformer Architecture</a:t>
            </a:r>
            <a:endParaRPr b="1" i="0" sz="2400" u="none" cap="none" strike="noStrike">
              <a:solidFill>
                <a:srgbClr val="675A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7" name="Google Shape;487;g2e954bb029d_0_95"/>
          <p:cNvSpPr txBox="1"/>
          <p:nvPr/>
        </p:nvSpPr>
        <p:spPr>
          <a:xfrm>
            <a:off x="1055700" y="2761500"/>
            <a:ext cx="4270200" cy="13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The source-target attention is another multi-head attention that calculates the attention values between the features (embeddings) from the input sentence and the features from the output (yet partial) sentence.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88" name="Google Shape;488;g2e954bb029d_0_95"/>
          <p:cNvPicPr preferRelativeResize="0"/>
          <p:nvPr/>
        </p:nvPicPr>
        <p:blipFill rotWithShape="1">
          <a:blip r:embed="rId3">
            <a:alphaModFix/>
          </a:blip>
          <a:srcRect b="0" l="9412" r="21431" t="0"/>
          <a:stretch/>
        </p:blipFill>
        <p:spPr>
          <a:xfrm>
            <a:off x="6598775" y="964788"/>
            <a:ext cx="4537550" cy="515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g2e954bb029d_0_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3048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2e954bb029d_0_1"/>
          <p:cNvSpPr txBox="1"/>
          <p:nvPr/>
        </p:nvSpPr>
        <p:spPr>
          <a:xfrm>
            <a:off x="3076575" y="2694712"/>
            <a:ext cx="6096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en-US" sz="4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Pre-trained Checkpoints</a:t>
            </a:r>
            <a:endParaRPr b="1" i="0" sz="4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2e954bb029d_0_6"/>
          <p:cNvSpPr txBox="1"/>
          <p:nvPr/>
        </p:nvSpPr>
        <p:spPr>
          <a:xfrm flipH="1">
            <a:off x="467462" y="207830"/>
            <a:ext cx="619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675AB9"/>
                </a:solidFill>
                <a:latin typeface="Montserrat"/>
                <a:ea typeface="Montserrat"/>
                <a:cs typeface="Montserrat"/>
                <a:sym typeface="Montserrat"/>
              </a:rPr>
              <a:t>Pre-trained Checkpoints</a:t>
            </a:r>
            <a:endParaRPr b="1" i="0" sz="2400" u="none" cap="none" strike="noStrike">
              <a:solidFill>
                <a:srgbClr val="675A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00" name="Google Shape;500;g2e954bb029d_0_6"/>
          <p:cNvPicPr preferRelativeResize="0"/>
          <p:nvPr/>
        </p:nvPicPr>
        <p:blipFill rotWithShape="1">
          <a:blip r:embed="rId3">
            <a:alphaModFix/>
          </a:blip>
          <a:srcRect b="6742" l="6124" r="64329" t="0"/>
          <a:stretch/>
        </p:blipFill>
        <p:spPr>
          <a:xfrm>
            <a:off x="1055700" y="2203200"/>
            <a:ext cx="1951600" cy="4105523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g2e954bb029d_0_6"/>
          <p:cNvSpPr txBox="1"/>
          <p:nvPr/>
        </p:nvSpPr>
        <p:spPr>
          <a:xfrm>
            <a:off x="2900050" y="2569400"/>
            <a:ext cx="3479100" cy="13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What are pre-trained 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checkpoints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02" name="Google Shape;502;g2e954bb029d_0_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3048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2e954bb029d_0_131"/>
          <p:cNvSpPr txBox="1"/>
          <p:nvPr/>
        </p:nvSpPr>
        <p:spPr>
          <a:xfrm flipH="1">
            <a:off x="467462" y="207830"/>
            <a:ext cx="619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675AB9"/>
                </a:solidFill>
                <a:latin typeface="Montserrat"/>
                <a:ea typeface="Montserrat"/>
                <a:cs typeface="Montserrat"/>
                <a:sym typeface="Montserrat"/>
              </a:rPr>
              <a:t>Pre-trained Checkpoints</a:t>
            </a:r>
            <a:endParaRPr b="1" i="0" sz="2400" u="none" cap="none" strike="noStrike">
              <a:solidFill>
                <a:srgbClr val="675A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08" name="Google Shape;508;g2e954bb029d_0_131"/>
          <p:cNvPicPr preferRelativeResize="0"/>
          <p:nvPr/>
        </p:nvPicPr>
        <p:blipFill rotWithShape="1">
          <a:blip r:embed="rId3">
            <a:alphaModFix/>
          </a:blip>
          <a:srcRect b="6742" l="6124" r="64329" t="0"/>
          <a:stretch/>
        </p:blipFill>
        <p:spPr>
          <a:xfrm>
            <a:off x="1055700" y="2203200"/>
            <a:ext cx="1951600" cy="4105523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g2e954bb029d_0_131"/>
          <p:cNvSpPr txBox="1"/>
          <p:nvPr/>
        </p:nvSpPr>
        <p:spPr>
          <a:xfrm>
            <a:off x="2900050" y="2569400"/>
            <a:ext cx="3479100" cy="13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Let’s take an example to understand pre-trained checkpoints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10" name="Google Shape;510;g2e954bb029d_0_1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3048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2e954bb029d_0_137"/>
          <p:cNvSpPr txBox="1"/>
          <p:nvPr/>
        </p:nvSpPr>
        <p:spPr>
          <a:xfrm flipH="1">
            <a:off x="467462" y="207830"/>
            <a:ext cx="619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675AB9"/>
                </a:solidFill>
                <a:latin typeface="Montserrat"/>
                <a:ea typeface="Montserrat"/>
                <a:cs typeface="Montserrat"/>
                <a:sym typeface="Montserrat"/>
              </a:rPr>
              <a:t>Pre-trained Checkpoints</a:t>
            </a:r>
            <a:endParaRPr b="1" i="0" sz="2400" u="none" cap="none" strike="noStrike">
              <a:solidFill>
                <a:srgbClr val="675A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16" name="Google Shape;516;g2e954bb029d_0_137"/>
          <p:cNvPicPr preferRelativeResize="0"/>
          <p:nvPr/>
        </p:nvPicPr>
        <p:blipFill rotWithShape="1">
          <a:blip r:embed="rId3">
            <a:alphaModFix/>
          </a:blip>
          <a:srcRect b="6742" l="6124" r="64329" t="0"/>
          <a:stretch/>
        </p:blipFill>
        <p:spPr>
          <a:xfrm>
            <a:off x="1055700" y="2203200"/>
            <a:ext cx="1951600" cy="4105523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g2e954bb029d_0_137"/>
          <p:cNvSpPr txBox="1"/>
          <p:nvPr/>
        </p:nvSpPr>
        <p:spPr>
          <a:xfrm>
            <a:off x="2900050" y="2569400"/>
            <a:ext cx="3479100" cy="13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Let’s suppose a few professionals start building a wall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18" name="Google Shape;518;g2e954bb029d_0_1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9150" y="1804648"/>
            <a:ext cx="4521500" cy="324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g2e954bb029d_0_1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4800" y="3048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2e954bb029d_0_144"/>
          <p:cNvSpPr txBox="1"/>
          <p:nvPr/>
        </p:nvSpPr>
        <p:spPr>
          <a:xfrm flipH="1">
            <a:off x="467462" y="207830"/>
            <a:ext cx="619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675AB9"/>
                </a:solidFill>
                <a:latin typeface="Montserrat"/>
                <a:ea typeface="Montserrat"/>
                <a:cs typeface="Montserrat"/>
                <a:sym typeface="Montserrat"/>
              </a:rPr>
              <a:t>Pre-trained Checkpoints</a:t>
            </a:r>
            <a:endParaRPr b="1" i="0" sz="2400" u="none" cap="none" strike="noStrike">
              <a:solidFill>
                <a:srgbClr val="675A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25" name="Google Shape;525;g2e954bb029d_0_144"/>
          <p:cNvPicPr preferRelativeResize="0"/>
          <p:nvPr/>
        </p:nvPicPr>
        <p:blipFill rotWithShape="1">
          <a:blip r:embed="rId3">
            <a:alphaModFix/>
          </a:blip>
          <a:srcRect b="6742" l="6124" r="64329" t="0"/>
          <a:stretch/>
        </p:blipFill>
        <p:spPr>
          <a:xfrm>
            <a:off x="1055700" y="2203200"/>
            <a:ext cx="1951600" cy="4105523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g2e954bb029d_0_144"/>
          <p:cNvSpPr txBox="1"/>
          <p:nvPr/>
        </p:nvSpPr>
        <p:spPr>
          <a:xfrm>
            <a:off x="2900050" y="2569400"/>
            <a:ext cx="3479100" cy="13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Even if they are not able to finish the wall on day 1, they will come on the next day to finish the wall. The checkpoints work 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similar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 to this principal. 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A checkpoint is a saved version of a model during training.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27" name="Google Shape;527;g2e954bb029d_0_1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93079" y="1890200"/>
            <a:ext cx="3077600" cy="307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g2e954bb029d_0_1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4800" y="3048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2e954bb029d_0_103"/>
          <p:cNvSpPr txBox="1"/>
          <p:nvPr/>
        </p:nvSpPr>
        <p:spPr>
          <a:xfrm flipH="1">
            <a:off x="467462" y="207830"/>
            <a:ext cx="619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675AB9"/>
                </a:solidFill>
                <a:latin typeface="Montserrat"/>
                <a:ea typeface="Montserrat"/>
                <a:cs typeface="Montserrat"/>
                <a:sym typeface="Montserrat"/>
              </a:rPr>
              <a:t>Pre-trained Checkpoints</a:t>
            </a:r>
            <a:endParaRPr b="1" i="0" sz="2400" u="none" cap="none" strike="noStrike">
              <a:solidFill>
                <a:srgbClr val="675A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4" name="Google Shape;534;g2e954bb029d_0_103"/>
          <p:cNvSpPr/>
          <p:nvPr/>
        </p:nvSpPr>
        <p:spPr>
          <a:xfrm>
            <a:off x="6286490" y="3130467"/>
            <a:ext cx="2263500" cy="874500"/>
          </a:xfrm>
          <a:prstGeom prst="roundRect">
            <a:avLst>
              <a:gd fmla="val 16667" name="adj"/>
            </a:avLst>
          </a:prstGeom>
          <a:solidFill>
            <a:srgbClr val="FF6997">
              <a:alpha val="20000"/>
            </a:srgbClr>
          </a:solidFill>
          <a:ln cap="flat" cmpd="sng" w="19050">
            <a:solidFill>
              <a:srgbClr val="FD9A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g2e954bb029d_0_103"/>
          <p:cNvSpPr txBox="1"/>
          <p:nvPr/>
        </p:nvSpPr>
        <p:spPr>
          <a:xfrm>
            <a:off x="6242375" y="3318000"/>
            <a:ext cx="2351700" cy="8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-US" sz="1200">
                <a:solidFill>
                  <a:srgbClr val="FF6997"/>
                </a:solidFill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 b="1" sz="1200">
              <a:solidFill>
                <a:srgbClr val="FF699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36" name="Google Shape;536;g2e954bb029d_0_103"/>
          <p:cNvGrpSpPr/>
          <p:nvPr/>
        </p:nvGrpSpPr>
        <p:grpSpPr>
          <a:xfrm>
            <a:off x="4832433" y="1226965"/>
            <a:ext cx="2351594" cy="779826"/>
            <a:chOff x="4918095" y="1809650"/>
            <a:chExt cx="2352300" cy="521100"/>
          </a:xfrm>
        </p:grpSpPr>
        <p:sp>
          <p:nvSpPr>
            <p:cNvPr id="537" name="Google Shape;537;g2e954bb029d_0_103"/>
            <p:cNvSpPr/>
            <p:nvPr/>
          </p:nvSpPr>
          <p:spPr>
            <a:xfrm>
              <a:off x="4918095" y="1809650"/>
              <a:ext cx="2352300" cy="521100"/>
            </a:xfrm>
            <a:prstGeom prst="roundRect">
              <a:avLst>
                <a:gd fmla="val 16667" name="adj"/>
              </a:avLst>
            </a:prstGeom>
            <a:solidFill>
              <a:srgbClr val="548AFF">
                <a:alpha val="20000"/>
              </a:srgbClr>
            </a:solidFill>
            <a:ln cap="flat" cmpd="sng" w="19050">
              <a:solidFill>
                <a:srgbClr val="57A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g2e954bb029d_0_103"/>
            <p:cNvSpPr txBox="1"/>
            <p:nvPr/>
          </p:nvSpPr>
          <p:spPr>
            <a:xfrm>
              <a:off x="5002720" y="1876800"/>
              <a:ext cx="219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57A6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Advantages of Pre-trained Checkpoints</a:t>
              </a:r>
              <a:endParaRPr b="1" sz="1200">
                <a:solidFill>
                  <a:srgbClr val="57A6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39" name="Google Shape;539;g2e954bb029d_0_103"/>
          <p:cNvGrpSpPr/>
          <p:nvPr/>
        </p:nvGrpSpPr>
        <p:grpSpPr>
          <a:xfrm>
            <a:off x="8814064" y="3131649"/>
            <a:ext cx="2263504" cy="876041"/>
            <a:chOff x="8477720" y="3169656"/>
            <a:chExt cx="2021708" cy="521981"/>
          </a:xfrm>
        </p:grpSpPr>
        <p:sp>
          <p:nvSpPr>
            <p:cNvPr id="540" name="Google Shape;540;g2e954bb029d_0_103"/>
            <p:cNvSpPr/>
            <p:nvPr/>
          </p:nvSpPr>
          <p:spPr>
            <a:xfrm>
              <a:off x="8477728" y="3169656"/>
              <a:ext cx="2021700" cy="521100"/>
            </a:xfrm>
            <a:prstGeom prst="roundRect">
              <a:avLst>
                <a:gd fmla="val 16667" name="adj"/>
              </a:avLst>
            </a:prstGeom>
            <a:solidFill>
              <a:srgbClr val="FEAE17">
                <a:alpha val="20000"/>
              </a:srgbClr>
            </a:solidFill>
            <a:ln cap="flat" cmpd="sng" w="19050">
              <a:solidFill>
                <a:srgbClr val="FEAE1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E646F"/>
                </a:solidFill>
              </a:endParaRPr>
            </a:p>
          </p:txBody>
        </p:sp>
        <p:sp>
          <p:nvSpPr>
            <p:cNvPr id="541" name="Google Shape;541;g2e954bb029d_0_103"/>
            <p:cNvSpPr txBox="1"/>
            <p:nvPr/>
          </p:nvSpPr>
          <p:spPr>
            <a:xfrm>
              <a:off x="8477720" y="3347537"/>
              <a:ext cx="2021700" cy="34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-US" sz="1200">
                  <a:solidFill>
                    <a:srgbClr val="FEAE1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Deployment</a:t>
              </a:r>
              <a:endParaRPr b="1" sz="1200">
                <a:solidFill>
                  <a:srgbClr val="FEAE1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42" name="Google Shape;542;g2e954bb029d_0_103"/>
          <p:cNvGrpSpPr/>
          <p:nvPr/>
        </p:nvGrpSpPr>
        <p:grpSpPr>
          <a:xfrm>
            <a:off x="997468" y="3133688"/>
            <a:ext cx="2263471" cy="943560"/>
            <a:chOff x="2905470" y="4110792"/>
            <a:chExt cx="2264150" cy="1052258"/>
          </a:xfrm>
        </p:grpSpPr>
        <p:sp>
          <p:nvSpPr>
            <p:cNvPr id="543" name="Google Shape;543;g2e954bb029d_0_103"/>
            <p:cNvSpPr/>
            <p:nvPr/>
          </p:nvSpPr>
          <p:spPr>
            <a:xfrm>
              <a:off x="2905470" y="4110792"/>
              <a:ext cx="2264100" cy="975300"/>
            </a:xfrm>
            <a:prstGeom prst="roundRect">
              <a:avLst>
                <a:gd fmla="val 16667" name="adj"/>
              </a:avLst>
            </a:prstGeom>
            <a:solidFill>
              <a:srgbClr val="FE646F">
                <a:alpha val="20000"/>
              </a:srgbClr>
            </a:solidFill>
            <a:ln cap="flat" cmpd="sng" w="19050">
              <a:solidFill>
                <a:srgbClr val="FE646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g2e954bb029d_0_103"/>
            <p:cNvSpPr txBox="1"/>
            <p:nvPr/>
          </p:nvSpPr>
          <p:spPr>
            <a:xfrm>
              <a:off x="2905520" y="4337150"/>
              <a:ext cx="2264100" cy="82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-US" sz="1200">
                  <a:solidFill>
                    <a:srgbClr val="FE646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Resuming Training</a:t>
              </a:r>
              <a:endParaRPr b="1" sz="1200">
                <a:solidFill>
                  <a:srgbClr val="FE646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45" name="Google Shape;545;g2e954bb029d_0_103"/>
          <p:cNvGrpSpPr/>
          <p:nvPr/>
        </p:nvGrpSpPr>
        <p:grpSpPr>
          <a:xfrm>
            <a:off x="3582821" y="3130371"/>
            <a:ext cx="2263446" cy="891011"/>
            <a:chOff x="2905483" y="4110775"/>
            <a:chExt cx="2264125" cy="530901"/>
          </a:xfrm>
        </p:grpSpPr>
        <p:sp>
          <p:nvSpPr>
            <p:cNvPr id="546" name="Google Shape;546;g2e954bb029d_0_103"/>
            <p:cNvSpPr/>
            <p:nvPr/>
          </p:nvSpPr>
          <p:spPr>
            <a:xfrm>
              <a:off x="2905509" y="4110775"/>
              <a:ext cx="2264100" cy="521100"/>
            </a:xfrm>
            <a:prstGeom prst="roundRect">
              <a:avLst>
                <a:gd fmla="val 16667" name="adj"/>
              </a:avLst>
            </a:prstGeom>
            <a:solidFill>
              <a:srgbClr val="89BDD1">
                <a:alpha val="20000"/>
              </a:srgbClr>
            </a:solidFill>
            <a:ln cap="flat" cmpd="sng" w="19050">
              <a:solidFill>
                <a:srgbClr val="89BD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g2e954bb029d_0_103"/>
            <p:cNvSpPr txBox="1"/>
            <p:nvPr/>
          </p:nvSpPr>
          <p:spPr>
            <a:xfrm>
              <a:off x="2905483" y="4297576"/>
              <a:ext cx="2264100" cy="34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-US" sz="1200">
                  <a:solidFill>
                    <a:srgbClr val="89BDD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Fine Tuning</a:t>
              </a:r>
              <a:endParaRPr b="1" sz="1200">
                <a:solidFill>
                  <a:srgbClr val="89BDD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cxnSp>
        <p:nvCxnSpPr>
          <p:cNvPr id="548" name="Google Shape;548;g2e954bb029d_0_103"/>
          <p:cNvCxnSpPr>
            <a:stCxn id="537" idx="2"/>
            <a:endCxn id="543" idx="0"/>
          </p:cNvCxnSpPr>
          <p:nvPr/>
        </p:nvCxnSpPr>
        <p:spPr>
          <a:xfrm rot="5400000">
            <a:off x="3505330" y="630691"/>
            <a:ext cx="1126800" cy="3879000"/>
          </a:xfrm>
          <a:prstGeom prst="bentConnector3">
            <a:avLst>
              <a:gd fmla="val 50004" name="adj1"/>
            </a:avLst>
          </a:prstGeom>
          <a:noFill/>
          <a:ln cap="flat" cmpd="sng" w="28575">
            <a:solidFill>
              <a:srgbClr val="44546A"/>
            </a:solidFill>
            <a:prstDash val="solid"/>
            <a:round/>
            <a:headEnd len="med" w="med" type="oval"/>
            <a:tailEnd len="med" w="med" type="stealth"/>
          </a:ln>
        </p:spPr>
      </p:cxnSp>
      <p:cxnSp>
        <p:nvCxnSpPr>
          <p:cNvPr id="549" name="Google Shape;549;g2e954bb029d_0_103"/>
          <p:cNvCxnSpPr>
            <a:stCxn id="537" idx="2"/>
            <a:endCxn id="540" idx="0"/>
          </p:cNvCxnSpPr>
          <p:nvPr/>
        </p:nvCxnSpPr>
        <p:spPr>
          <a:xfrm flipH="1" rot="-5400000">
            <a:off x="7414480" y="600541"/>
            <a:ext cx="1125000" cy="3937500"/>
          </a:xfrm>
          <a:prstGeom prst="bentConnector3">
            <a:avLst>
              <a:gd fmla="val 49994" name="adj1"/>
            </a:avLst>
          </a:prstGeom>
          <a:noFill/>
          <a:ln cap="flat" cmpd="sng" w="28575">
            <a:solidFill>
              <a:srgbClr val="44546A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50" name="Google Shape;550;g2e954bb029d_0_103"/>
          <p:cNvCxnSpPr/>
          <p:nvPr/>
        </p:nvCxnSpPr>
        <p:spPr>
          <a:xfrm>
            <a:off x="4754473" y="2556200"/>
            <a:ext cx="0" cy="577500"/>
          </a:xfrm>
          <a:prstGeom prst="straightConnector1">
            <a:avLst/>
          </a:prstGeom>
          <a:noFill/>
          <a:ln cap="flat" cmpd="sng" w="28575">
            <a:solidFill>
              <a:srgbClr val="44546A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51" name="Google Shape;551;g2e954bb029d_0_103"/>
          <p:cNvCxnSpPr/>
          <p:nvPr/>
        </p:nvCxnSpPr>
        <p:spPr>
          <a:xfrm>
            <a:off x="7468869" y="2556200"/>
            <a:ext cx="0" cy="577500"/>
          </a:xfrm>
          <a:prstGeom prst="straightConnector1">
            <a:avLst/>
          </a:prstGeom>
          <a:noFill/>
          <a:ln cap="flat" cmpd="sng" w="28575">
            <a:solidFill>
              <a:srgbClr val="44546A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52" name="Google Shape;552;g2e954bb029d_0_103"/>
          <p:cNvSpPr txBox="1"/>
          <p:nvPr/>
        </p:nvSpPr>
        <p:spPr>
          <a:xfrm>
            <a:off x="1012509" y="4279150"/>
            <a:ext cx="2248800" cy="10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Resume your 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training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 from  a saved checkpoint</a:t>
            </a:r>
            <a:endParaRPr sz="12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3" name="Google Shape;553;g2e954bb029d_0_103"/>
          <p:cNvSpPr txBox="1"/>
          <p:nvPr/>
        </p:nvSpPr>
        <p:spPr>
          <a:xfrm>
            <a:off x="3538889" y="4279150"/>
            <a:ext cx="23517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Using the saved checkpoints to custom train on new data for 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specific tasks</a:t>
            </a:r>
            <a:endParaRPr sz="12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4" name="Google Shape;554;g2e954bb029d_0_103"/>
          <p:cNvSpPr txBox="1"/>
          <p:nvPr/>
        </p:nvSpPr>
        <p:spPr>
          <a:xfrm>
            <a:off x="8700760" y="4279150"/>
            <a:ext cx="24906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Save the final trained model checkpoint for later use</a:t>
            </a:r>
            <a:endParaRPr sz="12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5" name="Google Shape;555;g2e954bb029d_0_103"/>
          <p:cNvSpPr txBox="1"/>
          <p:nvPr/>
        </p:nvSpPr>
        <p:spPr>
          <a:xfrm>
            <a:off x="6293800" y="4279150"/>
            <a:ext cx="22488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Use the 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checkpoints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 to evaluate 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your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 model on validation and test data</a:t>
            </a:r>
            <a:endParaRPr sz="12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56" name="Google Shape;556;g2e954bb029d_0_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3048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2e954bb029d_0_13"/>
          <p:cNvSpPr txBox="1"/>
          <p:nvPr/>
        </p:nvSpPr>
        <p:spPr>
          <a:xfrm>
            <a:off x="3076575" y="2694712"/>
            <a:ext cx="6096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en-US" sz="4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Applications of Transformers</a:t>
            </a:r>
            <a:endParaRPr b="1" i="0" sz="4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2e954bb029d_0_18"/>
          <p:cNvSpPr txBox="1"/>
          <p:nvPr/>
        </p:nvSpPr>
        <p:spPr>
          <a:xfrm flipH="1">
            <a:off x="467462" y="207830"/>
            <a:ext cx="619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675AB9"/>
                </a:solidFill>
                <a:latin typeface="Montserrat"/>
                <a:ea typeface="Montserrat"/>
                <a:cs typeface="Montserrat"/>
                <a:sym typeface="Montserrat"/>
              </a:rPr>
              <a:t>Applications of Transformers</a:t>
            </a:r>
            <a:endParaRPr b="1" i="0" sz="2400" u="none" cap="none" strike="noStrike">
              <a:solidFill>
                <a:srgbClr val="675A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7" name="Google Shape;567;g2e954bb029d_0_18"/>
          <p:cNvSpPr/>
          <p:nvPr/>
        </p:nvSpPr>
        <p:spPr>
          <a:xfrm>
            <a:off x="4738839" y="1498550"/>
            <a:ext cx="2654400" cy="713100"/>
          </a:xfrm>
          <a:prstGeom prst="roundRect">
            <a:avLst>
              <a:gd fmla="val 16667" name="adj"/>
            </a:avLst>
          </a:prstGeom>
          <a:solidFill>
            <a:srgbClr val="B791FF">
              <a:alpha val="11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g2e954bb029d_0_18"/>
          <p:cNvSpPr/>
          <p:nvPr/>
        </p:nvSpPr>
        <p:spPr>
          <a:xfrm>
            <a:off x="6384552" y="3757513"/>
            <a:ext cx="2690400" cy="713100"/>
          </a:xfrm>
          <a:prstGeom prst="roundRect">
            <a:avLst>
              <a:gd fmla="val 16667" name="adj"/>
            </a:avLst>
          </a:prstGeom>
          <a:solidFill>
            <a:srgbClr val="FEAE17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g2e954bb029d_0_18"/>
          <p:cNvSpPr/>
          <p:nvPr/>
        </p:nvSpPr>
        <p:spPr>
          <a:xfrm>
            <a:off x="2699425" y="3772425"/>
            <a:ext cx="2939700" cy="713100"/>
          </a:xfrm>
          <a:prstGeom prst="roundRect">
            <a:avLst>
              <a:gd fmla="val 16667" name="adj"/>
            </a:avLst>
          </a:prstGeom>
          <a:solidFill>
            <a:srgbClr val="586DFE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g2e954bb029d_0_18"/>
          <p:cNvSpPr/>
          <p:nvPr/>
        </p:nvSpPr>
        <p:spPr>
          <a:xfrm>
            <a:off x="8192650" y="1498550"/>
            <a:ext cx="2690400" cy="713100"/>
          </a:xfrm>
          <a:prstGeom prst="roundRect">
            <a:avLst>
              <a:gd fmla="val 16667" name="adj"/>
            </a:avLst>
          </a:prstGeom>
          <a:solidFill>
            <a:srgbClr val="FE646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g2e954bb029d_0_18"/>
          <p:cNvSpPr/>
          <p:nvPr/>
        </p:nvSpPr>
        <p:spPr>
          <a:xfrm>
            <a:off x="1260260" y="1497475"/>
            <a:ext cx="2654400" cy="713100"/>
          </a:xfrm>
          <a:prstGeom prst="roundRect">
            <a:avLst>
              <a:gd fmla="val 16667" name="adj"/>
            </a:avLst>
          </a:prstGeom>
          <a:solidFill>
            <a:srgbClr val="9AD89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g2e954bb029d_0_18"/>
          <p:cNvSpPr txBox="1"/>
          <p:nvPr/>
        </p:nvSpPr>
        <p:spPr>
          <a:xfrm>
            <a:off x="1913679" y="1547165"/>
            <a:ext cx="2225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AD898"/>
                </a:solidFill>
                <a:latin typeface="Montserrat"/>
                <a:ea typeface="Montserrat"/>
                <a:cs typeface="Montserrat"/>
                <a:sym typeface="Montserrat"/>
              </a:rPr>
              <a:t>Natural Language</a:t>
            </a:r>
            <a:endParaRPr b="1">
              <a:solidFill>
                <a:srgbClr val="9AD89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AD898"/>
                </a:solidFill>
                <a:latin typeface="Montserrat"/>
                <a:ea typeface="Montserrat"/>
                <a:cs typeface="Montserrat"/>
                <a:sym typeface="Montserrat"/>
              </a:rPr>
              <a:t>Processing</a:t>
            </a:r>
            <a:endParaRPr b="1">
              <a:solidFill>
                <a:srgbClr val="9AD89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3" name="Google Shape;573;g2e954bb029d_0_18"/>
          <p:cNvSpPr txBox="1"/>
          <p:nvPr/>
        </p:nvSpPr>
        <p:spPr>
          <a:xfrm>
            <a:off x="1279530" y="2210475"/>
            <a:ext cx="2766000" cy="7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Transformers help in text generation, summarization, translation, etc</a:t>
            </a:r>
            <a:endParaRPr sz="12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4" name="Google Shape;574;g2e954bb029d_0_18"/>
          <p:cNvSpPr txBox="1"/>
          <p:nvPr/>
        </p:nvSpPr>
        <p:spPr>
          <a:xfrm>
            <a:off x="5422557" y="1547163"/>
            <a:ext cx="1983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E9CF1"/>
                </a:solidFill>
                <a:latin typeface="Montserrat"/>
                <a:ea typeface="Montserrat"/>
                <a:cs typeface="Montserrat"/>
                <a:sym typeface="Montserrat"/>
              </a:rPr>
              <a:t>Computer </a:t>
            </a:r>
            <a:endParaRPr b="1">
              <a:solidFill>
                <a:srgbClr val="9E9CF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E9CF1"/>
                </a:solidFill>
                <a:latin typeface="Montserrat"/>
                <a:ea typeface="Montserrat"/>
                <a:cs typeface="Montserrat"/>
                <a:sym typeface="Montserrat"/>
              </a:rPr>
              <a:t>Vision</a:t>
            </a:r>
            <a:endParaRPr b="1">
              <a:solidFill>
                <a:srgbClr val="9E9CF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5" name="Google Shape;575;g2e954bb029d_0_18"/>
          <p:cNvSpPr txBox="1"/>
          <p:nvPr/>
        </p:nvSpPr>
        <p:spPr>
          <a:xfrm>
            <a:off x="4736090" y="2210475"/>
            <a:ext cx="2766000" cy="7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Generation of images is one of the most famous applications of transformers</a:t>
            </a:r>
            <a:endParaRPr sz="12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6" name="Google Shape;576;g2e954bb029d_0_18"/>
          <p:cNvSpPr txBox="1"/>
          <p:nvPr/>
        </p:nvSpPr>
        <p:spPr>
          <a:xfrm>
            <a:off x="8852085" y="1573352"/>
            <a:ext cx="2225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E646F"/>
                </a:solidFill>
                <a:latin typeface="Montserrat"/>
                <a:ea typeface="Montserrat"/>
                <a:cs typeface="Montserrat"/>
                <a:sym typeface="Montserrat"/>
              </a:rPr>
              <a:t>Audio Processing</a:t>
            </a:r>
            <a:endParaRPr b="1">
              <a:solidFill>
                <a:srgbClr val="FE646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E646F"/>
                </a:solidFill>
                <a:latin typeface="Montserrat"/>
                <a:ea typeface="Montserrat"/>
                <a:cs typeface="Montserrat"/>
                <a:sym typeface="Montserrat"/>
              </a:rPr>
              <a:t>and Applications</a:t>
            </a:r>
            <a:endParaRPr b="1">
              <a:solidFill>
                <a:srgbClr val="FE64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7" name="Google Shape;577;g2e954bb029d_0_18"/>
          <p:cNvSpPr txBox="1"/>
          <p:nvPr/>
        </p:nvSpPr>
        <p:spPr>
          <a:xfrm>
            <a:off x="8217419" y="2210550"/>
            <a:ext cx="2766000" cy="7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Processing audio for speech-to-text, text-to-speech using transformers</a:t>
            </a:r>
            <a:endParaRPr sz="12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8" name="Google Shape;578;g2e954bb029d_0_18"/>
          <p:cNvSpPr txBox="1"/>
          <p:nvPr/>
        </p:nvSpPr>
        <p:spPr>
          <a:xfrm>
            <a:off x="3406524" y="3819400"/>
            <a:ext cx="2225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548AFF"/>
                </a:solidFill>
                <a:latin typeface="Montserrat"/>
                <a:ea typeface="Montserrat"/>
                <a:cs typeface="Montserrat"/>
                <a:sym typeface="Montserrat"/>
              </a:rPr>
              <a:t>Deep Reinforcement Learning</a:t>
            </a:r>
            <a:endParaRPr b="1">
              <a:solidFill>
                <a:srgbClr val="548A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9" name="Google Shape;579;g2e954bb029d_0_18"/>
          <p:cNvSpPr txBox="1"/>
          <p:nvPr/>
        </p:nvSpPr>
        <p:spPr>
          <a:xfrm>
            <a:off x="3017545" y="4482000"/>
            <a:ext cx="2723700" cy="7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Reinforcement learning using transformers for training custom models without the dependency of existing data</a:t>
            </a:r>
            <a:endParaRPr sz="12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0" name="Google Shape;580;g2e954bb029d_0_18"/>
          <p:cNvSpPr txBox="1"/>
          <p:nvPr/>
        </p:nvSpPr>
        <p:spPr>
          <a:xfrm>
            <a:off x="7055139" y="3934178"/>
            <a:ext cx="222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EAE17"/>
                </a:solidFill>
                <a:latin typeface="Montserrat"/>
                <a:ea typeface="Montserrat"/>
                <a:cs typeface="Montserrat"/>
                <a:sym typeface="Montserrat"/>
              </a:rPr>
              <a:t>3D</a:t>
            </a:r>
            <a:r>
              <a:rPr b="1" lang="en-US">
                <a:solidFill>
                  <a:srgbClr val="FEAE17"/>
                </a:solidFill>
                <a:latin typeface="Montserrat"/>
                <a:ea typeface="Montserrat"/>
                <a:cs typeface="Montserrat"/>
                <a:sym typeface="Montserrat"/>
              </a:rPr>
              <a:t> Modeling</a:t>
            </a:r>
            <a:endParaRPr b="1">
              <a:solidFill>
                <a:srgbClr val="FEAE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1" name="Google Shape;581;g2e954bb029d_0_18"/>
          <p:cNvSpPr txBox="1"/>
          <p:nvPr/>
        </p:nvSpPr>
        <p:spPr>
          <a:xfrm>
            <a:off x="6466102" y="4481990"/>
            <a:ext cx="2723700" cy="7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Modeling 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3D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 deliverables using transformers</a:t>
            </a:r>
            <a:endParaRPr sz="12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82" name="Google Shape;582;g2e954bb029d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8725" y="1591540"/>
            <a:ext cx="524950" cy="52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g2e954bb029d_0_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7600" y="1592615"/>
            <a:ext cx="524950" cy="52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g2e954bb029d_0_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27125" y="1618665"/>
            <a:ext cx="524950" cy="52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g2e954bb029d_0_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81575" y="3851590"/>
            <a:ext cx="524950" cy="52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g2e954bb029d_0_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42042" y="3777733"/>
            <a:ext cx="713100" cy="7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g2e954bb029d_0_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04800" y="3048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11"/>
          <p:cNvSpPr txBox="1"/>
          <p:nvPr/>
        </p:nvSpPr>
        <p:spPr>
          <a:xfrm>
            <a:off x="2476500" y="2667053"/>
            <a:ext cx="7239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675AB9"/>
                </a:solidFill>
                <a:latin typeface="Montserrat"/>
                <a:ea typeface="Montserrat"/>
                <a:cs typeface="Montserrat"/>
                <a:sym typeface="Montserrat"/>
              </a:rPr>
              <a:t>Hands-On:</a:t>
            </a:r>
            <a:br>
              <a:rPr b="1" i="0" lang="en-US" sz="4800" u="none" cap="none" strike="noStrike">
                <a:solidFill>
                  <a:srgbClr val="675AB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US" sz="2400">
                <a:solidFill>
                  <a:srgbClr val="675AB9"/>
                </a:solidFill>
                <a:latin typeface="Montserrat"/>
                <a:ea typeface="Montserrat"/>
                <a:cs typeface="Montserrat"/>
                <a:sym typeface="Montserrat"/>
              </a:rPr>
              <a:t>Hugging Face</a:t>
            </a:r>
            <a:r>
              <a:rPr b="1" lang="en-US" sz="2400">
                <a:solidFill>
                  <a:srgbClr val="675AB9"/>
                </a:solidFill>
                <a:latin typeface="Montserrat"/>
                <a:ea typeface="Montserrat"/>
                <a:cs typeface="Montserrat"/>
                <a:sym typeface="Montserrat"/>
              </a:rPr>
              <a:t> and Generative AI</a:t>
            </a:r>
            <a:endParaRPr b="1" i="0" sz="4800" u="none" cap="none" strike="noStrike">
              <a:solidFill>
                <a:srgbClr val="675AB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93" name="Google Shape;59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3048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8" name="Google Shape;59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2023-10-13T09:16:11Z</dcterms:created>
  <dc:creator>Chinnappa MM</dc:creator>
</cp:coreProperties>
</file>